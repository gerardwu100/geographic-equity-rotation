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Georgia"/>
              </a:defRPr>
            </a:pPr>
            <a:r>
              <a:rPr sz="1500" b="0" i="0" u="none" strike="noStrike">
                <a:solidFill>
                  <a:srgbClr val="000000"/>
                </a:solidFill>
                <a:latin typeface="Georgia"/>
              </a:rPr>
              <a:t>Out-of-fold return-ranking skill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rank IC</c:v>
                </c:pt>
              </c:strCache>
            </c:strRef>
          </c:tx>
          <c:spPr>
            <a:solidFill>
              <a:srgbClr val="147D7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SPY</c:v>
                  </c:pt>
                  <c:pt idx="1">
                    <c:v>EZU</c:v>
                  </c:pt>
                  <c:pt idx="2">
                    <c:v>EWJ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0.196</c:v>
                </c:pt>
                <c:pt idx="1">
                  <c:v>0.182</c:v>
                </c:pt>
                <c:pt idx="2">
                  <c:v>0.081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5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ETF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Mean rank IC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 w="12700" cap="flat">
          <a:solidFill>
            <a:srgbClr val="C9C2B7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Georgia"/>
              </a:defRPr>
            </a:pPr>
            <a:r>
              <a:rPr sz="1500" b="0" i="0" u="none" strike="noStrike">
                <a:solidFill>
                  <a:srgbClr val="000000"/>
                </a:solidFill>
                <a:latin typeface="Georgia"/>
              </a:rPr>
              <a:t>Compound annual growth rate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</c:v>
                </c:pt>
              </c:strCache>
            </c:strRef>
          </c:tx>
          <c:spPr>
            <a:solidFill>
              <a:srgbClr val="147D7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3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SPY only</c:v>
                  </c:pt>
                  <c:pt idx="1">
                    <c:v>Single-asset rotation</c:v>
                  </c:pt>
                  <c:pt idx="2">
                    <c:v>Top-two unscaled</c:v>
                  </c:pt>
                  <c:pt idx="3">
                    <c:v>Equal weight</c:v>
                  </c:pt>
                  <c:pt idx="4">
                    <c:v>Risk-managed top-two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13.94</c:v>
                </c:pt>
                <c:pt idx="1">
                  <c:v>12.51</c:v>
                </c:pt>
                <c:pt idx="2">
                  <c:v>11.65</c:v>
                </c:pt>
                <c:pt idx="3">
                  <c:v>10.12</c:v>
                </c:pt>
                <c:pt idx="4">
                  <c:v>7.75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53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Strategy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CAGR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 w="12700" cap="flat">
          <a:solidFill>
            <a:srgbClr val="C9C2B7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Georgia"/>
              </a:defRPr>
            </a:pPr>
            <a:r>
              <a:rPr sz="1500" b="0" i="0" u="none" strike="noStrike">
                <a:solidFill>
                  <a:srgbClr val="000000"/>
                </a:solidFill>
                <a:latin typeface="Georgia"/>
              </a:rPr>
              <a:t>Return and risk comparison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Risk-managed top-two</c:v>
                </c:pt>
              </c:strCache>
            </c:strRef>
          </c:tx>
          <c:spPr>
            <a:solidFill>
              <a:srgbClr val="147D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CAGR</c:v>
                  </c:pt>
                  <c:pt idx="1">
                    <c:v>Annualized volatility</c:v>
                  </c:pt>
                  <c:pt idx="2">
                    <c:v>Maximum drawdown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7.75</c:v>
                </c:pt>
                <c:pt idx="1">
                  <c:v>11.96</c:v>
                </c:pt>
                <c:pt idx="2">
                  <c:v>27.56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Top-two unscaled</c:v>
                </c:pt>
              </c:strCache>
            </c:strRef>
          </c:tx>
          <c:spPr>
            <a:solidFill>
              <a:srgbClr val="D894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CAGR</c:v>
                  </c:pt>
                  <c:pt idx="1">
                    <c:v>Annualized volatility</c:v>
                  </c:pt>
                  <c:pt idx="2">
                    <c:v>Maximum drawdown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11.65</c:v>
                </c:pt>
                <c:pt idx="1">
                  <c:v>14.91</c:v>
                </c:pt>
                <c:pt idx="2">
                  <c:v>27.85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Metric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8"/>
      </c:valAx>
      <c:spPr>
        <a:noFill/>
        <a:ln w="12700" cap="flat">
          <a:solidFill>
            <a:srgbClr val="C9C2B7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1:00
Open with the decision problem: whether regional ETF selection can be improved with a compact, causal signal set.
Preview the conclusion: there is some signal, but not enough evidence to beat the simplest U.S.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1:10
Define the three exchange-traded funds and the 20-session forecasting horizon.
Stress that the task is relative selection among regions, not forecasting the global equity market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1:30
Walk left to right through the timeline. Features are observed after the decision close; execution waits until the next valid close.
The 21-session purge prevents a training label from extending into the next test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1:30
Define the rank information coefficient before discussing values.
SPY and EZU are modestly positive across folds. EWJ is weaker and also lacks a trustworthy Japanese volatility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1:10
Explain why ranks become equal weights: forecast ordering is more credible than forecast magnitude.
The risk layer can reduce exposure and hold cash; it cannot create signal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1:40
Lead with the benchmark comparison. Every displayed strategy is net of the same modeled ETF trading costs.
The risk-managed strategy compounded positively, but SPY only delivered the highest compound annual growth rate and Sharpe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1:20
Compare the same top-two rule with and without scaling.
Annualized volatility falls by about three percentage points, yet maximum drawdown barely improves and return falls materially.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1:40
The rebalance-phase test reduces concern that one arbitrary starting date drives the answer.
Still, this is not a fresh holdout because earlier research informed the feature families and horizon. Mention the price-adjustment and simplified-cost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Pacing: 1:00
Close on three claims only: modest regional ranking signal, useful exposure control, and no benchmark-beating evidence.
The next honest experiment is to freeze the pipeline and wait for genuinely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11401" cy="5143500"/>
          </a:xfrm>
          <a:prstGeom prst="rect">
            <a:avLst/>
          </a:prstGeom>
          <a:solidFill>
            <a:srgbClr val="147D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622250"/>
            <a:ext cx="1905000" cy="1905000"/>
          </a:xfrm>
          <a:prstGeom prst="roundRect">
            <a:avLst>
              <a:gd name="adj" fmla="val 48000"/>
            </a:avLst>
          </a:prstGeom>
          <a:noFill/>
          <a:ln w="19050">
            <a:solidFill>
              <a:srgbClr val="F6F1E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17550" y="1206401"/>
            <a:ext cx="736550" cy="736550"/>
          </a:xfrm>
          <a:prstGeom prst="roundRect">
            <a:avLst>
              <a:gd name="adj" fmla="val 124146"/>
            </a:avLst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3098750"/>
            <a:ext cx="194310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 · United States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EZU · Eurozone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EWJ · Japan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32150" y="965150"/>
            <a:ext cx="5000143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IN MATHEMATICAL FINANCE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32150" y="1212652"/>
            <a:ext cx="5000143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9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lang="en-US" sz="3900" dirty="0"/>
          </a:p>
          <a:p>
            <a:pPr algn="l" indent="0" marL="0">
              <a:lnSpc>
                <a:spcPts val="4095"/>
              </a:lnSpc>
              <a:buNone/>
            </a:pPr>
            <a:r>
              <a:rPr lang="en-US" sz="39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Rotation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3632150" y="2430363"/>
            <a:ext cx="4469130" cy="42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spcBef>
                <a:spcPts val="1400"/>
              </a:spcBef>
              <a:buNone/>
            </a:pPr>
            <a:r>
              <a:rPr lang="en-US" sz="130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currency-option and market signals improve regional ETF selection?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32150" y="3259038"/>
            <a:ext cx="1079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2150" y="3487489"/>
            <a:ext cx="5000143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1400"/>
              </a:spcBef>
              <a:buNone/>
            </a:pPr>
            <a:r>
              <a:rPr lang="en-US" sz="100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Khadra · Matthew Antoniuk · Gerard Wu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4910138"/>
            <a:ext cx="189452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research · corrected pipeline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72500" y="4910138"/>
            <a:ext cx="19431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RESEARCH QUESTION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global question, three liquid regional ETFs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982861"/>
            <a:ext cx="8549640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each region's next 20-session return, then rotate toward the strongest predictions.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1473398"/>
            <a:ext cx="2692301" cy="1650355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1660624"/>
            <a:ext cx="23642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8226" y="2130475"/>
            <a:ext cx="2364206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8226" y="2436465"/>
            <a:ext cx="23642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U.S. equity exposure</a:t>
            </a:r>
            <a:endParaRPr lang="en-US" sz="1050" dirty="0"/>
          </a:p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currency: U.S. dollar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25701" y="1473398"/>
            <a:ext cx="2692450" cy="1650355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2927" y="1660624"/>
            <a:ext cx="23643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EZU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12927" y="2130475"/>
            <a:ext cx="236435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Eurozone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2927" y="2436465"/>
            <a:ext cx="236435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and mid-cap euro-area equities</a:t>
            </a:r>
            <a:endParaRPr lang="en-US" sz="1050" dirty="0"/>
          </a:p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currency: euro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70550" y="1473398"/>
            <a:ext cx="2692450" cy="1650355"/>
          </a:xfrm>
          <a:prstGeom prst="roundRect">
            <a:avLst>
              <a:gd name="adj" fmla="val 6156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57776" y="1660624"/>
            <a:ext cx="23643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EWJ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57776" y="2130475"/>
            <a:ext cx="236435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7776" y="2436465"/>
            <a:ext cx="236435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equity exposure</a:t>
            </a:r>
            <a:endParaRPr lang="en-US" sz="1050" dirty="0"/>
          </a:p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currency: yen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00" y="3326904"/>
            <a:ext cx="8382000" cy="755452"/>
          </a:xfrm>
          <a:prstGeom prst="roundRect">
            <a:avLst>
              <a:gd name="adj" fmla="val 13449"/>
            </a:avLst>
          </a:prstGeom>
          <a:solidFill>
            <a:srgbClr val="D7E9E5"/>
          </a:solidFill>
          <a:ln w="9525">
            <a:solidFill>
              <a:srgbClr val="147D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8226" y="3545830"/>
            <a:ext cx="1360170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47D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17527" y="3514130"/>
            <a:ext cx="65874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market, volume, volatility, and currency-option signals contain enough cross-regional information to improve risk-adjusted allocation.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1000" y="4910138"/>
            <a:ext cx="115614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Universe: SPY, EZU, EWJ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RESEARCH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corrected pipeline enforces a tradable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135261"/>
            <a:ext cx="2009775" cy="1070818"/>
          </a:xfrm>
          <a:prstGeom prst="roundRect">
            <a:avLst>
              <a:gd name="adj" fmla="val 9488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22487"/>
            <a:ext cx="166803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8226" y="1741438"/>
            <a:ext cx="1668030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market sessions</a:t>
            </a:r>
            <a:endParaRPr lang="en-US" sz="950" dirty="0"/>
          </a:p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2012-02-27 to 2026-07-28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05075" y="1135261"/>
            <a:ext cx="2009775" cy="1070818"/>
          </a:xfrm>
          <a:prstGeom prst="roundRect">
            <a:avLst>
              <a:gd name="adj" fmla="val 9488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92301" y="1322487"/>
            <a:ext cx="166803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2,954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2301" y="1741438"/>
            <a:ext cx="1668030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out-of-fold prediction dates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29150" y="1135261"/>
            <a:ext cx="2009775" cy="1070818"/>
          </a:xfrm>
          <a:prstGeom prst="roundRect">
            <a:avLst>
              <a:gd name="adj" fmla="val 9488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6376" y="1322487"/>
            <a:ext cx="166803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16376" y="1741438"/>
            <a:ext cx="1668030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20-session rebalances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53225" y="1135261"/>
            <a:ext cx="2009775" cy="1070818"/>
          </a:xfrm>
          <a:prstGeom prst="roundRect">
            <a:avLst>
              <a:gd name="adj" fmla="val 9488"/>
            </a:avLst>
          </a:prstGeom>
          <a:solidFill>
            <a:srgbClr val="F3E2C2"/>
          </a:solidFill>
          <a:ln w="9525">
            <a:solidFill>
              <a:srgbClr val="D894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40451" y="1322487"/>
            <a:ext cx="166803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40451" y="1741438"/>
            <a:ext cx="1668030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non-session rows removed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1000" y="2581424"/>
            <a:ext cx="1572220" cy="964853"/>
          </a:xfrm>
          <a:prstGeom prst="roundRect">
            <a:avLst>
              <a:gd name="adj" fmla="val 10530"/>
            </a:avLst>
          </a:prstGeom>
          <a:solidFill>
            <a:srgbClr val="D7E9E5"/>
          </a:solidFill>
          <a:ln w="9525">
            <a:solidFill>
              <a:srgbClr val="147D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6248" y="2768650"/>
            <a:ext cx="1221724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close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6248" y="3025676"/>
            <a:ext cx="122172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known at 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54721" y="3051125"/>
            <a:ext cx="443954" cy="25301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00176" y="2664768"/>
            <a:ext cx="1572369" cy="798165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5423" y="2851993"/>
            <a:ext cx="122187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75423" y="3109020"/>
            <a:ext cx="122187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fill at t+1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74046" y="3051125"/>
            <a:ext cx="443954" cy="25301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9501" y="2561630"/>
            <a:ext cx="1724174" cy="1004441"/>
          </a:xfrm>
          <a:prstGeom prst="roundRect">
            <a:avLst>
              <a:gd name="adj" fmla="val 10115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93230" y="2748855"/>
            <a:ext cx="1376717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20 sessions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93230" y="3212157"/>
            <a:ext cx="137671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at t+21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45176" y="3051125"/>
            <a:ext cx="443954" cy="25301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90631" y="2664768"/>
            <a:ext cx="1572369" cy="798165"/>
          </a:xfrm>
          <a:prstGeom prst="roundRect">
            <a:avLst>
              <a:gd name="adj" fmla="val 12729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65877" y="2851993"/>
            <a:ext cx="122187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21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65877" y="3109020"/>
            <a:ext cx="122187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13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 overlap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1000" y="3819971"/>
            <a:ext cx="854964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20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Japanese volatility index candidate is excluded after an unexplained 100-fold jump; EWJ therefore uses fewer features.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1000" y="4910138"/>
            <a:ext cx="272034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StrategyPipeline.ipynb · corrected timing and data cleaning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SIGNAL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strength is positive—but uneven across regions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097161"/>
            <a:ext cx="3268861" cy="1810345"/>
          </a:xfrm>
          <a:prstGeom prst="roundRect">
            <a:avLst>
              <a:gd name="adj" fmla="val 5612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284387"/>
            <a:ext cx="295229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feature families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8226" y="1590377"/>
            <a:ext cx="2894409" cy="104105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 and 60-session momentum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trend and relative volume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 risk-reversal demand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VIX for SPY and V2X for EZU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1000" y="3059906"/>
            <a:ext cx="3268861" cy="990302"/>
          </a:xfrm>
          <a:prstGeom prst="roundRect">
            <a:avLst>
              <a:gd name="adj" fmla="val 10260"/>
            </a:avLst>
          </a:prstGeom>
          <a:solidFill>
            <a:srgbClr val="D7E9E5"/>
          </a:solidFill>
          <a:ln w="9525">
            <a:solidFill>
              <a:srgbClr val="147D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3247132"/>
            <a:ext cx="2952298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8226" y="3529608"/>
            <a:ext cx="295229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standardized Ridge regression per ETF, tuned inside purged expanding-window folds.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78461" y="3967311"/>
            <a:ext cx="498223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7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information coefficient (IC) is the Spearman correlation between predicted and realized returns. Higher is better; zero means no monotonic ranking skill.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4910138"/>
            <a:ext cx="1690497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rank IC across five outer folds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7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878461" y="1097161"/>
          <a:ext cx="4800600" cy="27813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PORTFOLIO CONSTRUCTION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ranks for selection; use volatility only for exposure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198811"/>
            <a:ext cx="1674316" cy="1804243"/>
          </a:xfrm>
          <a:prstGeom prst="roundRect">
            <a:avLst>
              <a:gd name="adj" fmla="val 6068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86036"/>
            <a:ext cx="132586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8226" y="1843088"/>
            <a:ext cx="1325862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forecasts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8226" y="2149078"/>
            <a:ext cx="132586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treat noisy return magnitudes as precise portfolio inputs.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82267" y="2088207"/>
            <a:ext cx="270123" cy="25301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79340" y="1198811"/>
            <a:ext cx="1674465" cy="1804243"/>
          </a:xfrm>
          <a:prstGeom prst="roundRect">
            <a:avLst>
              <a:gd name="adj" fmla="val 6068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66566" y="1386036"/>
            <a:ext cx="132601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66566" y="1843088"/>
            <a:ext cx="1326014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top two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66566" y="2149078"/>
            <a:ext cx="132601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50% to each selected ETF before risk scaling.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0756" y="2088207"/>
            <a:ext cx="270123" cy="25301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77829" y="1198811"/>
            <a:ext cx="1786830" cy="1804243"/>
          </a:xfrm>
          <a:prstGeom prst="roundRect">
            <a:avLst>
              <a:gd name="adj" fmla="val 5686"/>
            </a:avLst>
          </a:prstGeom>
          <a:solidFill>
            <a:srgbClr val="D7E9E5"/>
          </a:solidFill>
          <a:ln w="9525">
            <a:solidFill>
              <a:srgbClr val="147D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65055" y="1386036"/>
            <a:ext cx="144062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65055" y="1843088"/>
            <a:ext cx="1440626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cap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65055" y="2149078"/>
            <a:ext cx="144062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exposure down using a 63-session covariance estimate; never lever up.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91610" y="2088207"/>
            <a:ext cx="270123" cy="25301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88684" y="1198811"/>
            <a:ext cx="1674316" cy="1804243"/>
          </a:xfrm>
          <a:prstGeom prst="roundRect">
            <a:avLst>
              <a:gd name="adj" fmla="val 6068"/>
            </a:avLst>
          </a:prstGeom>
          <a:solidFill>
            <a:srgbClr val="F3E2C2"/>
          </a:solidFill>
          <a:ln w="9525">
            <a:solidFill>
              <a:srgbClr val="D894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75909" y="1386036"/>
            <a:ext cx="132586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17.7%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75909" y="1843088"/>
            <a:ext cx="1325862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75909" y="2149078"/>
            <a:ext cx="132586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capital stays in cash, modeled at a 0% return.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1000" y="3218855"/>
            <a:ext cx="274614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Rebalance: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20 valid sessions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25701" y="3218855"/>
            <a:ext cx="274629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Costs: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basis points per ETF side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70550" y="3218855"/>
            <a:ext cx="274629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Accounting: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 from drifted holdings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1000" y="4910138"/>
            <a:ext cx="2273427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rule; no allocation or risk-target grid search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COMPARATIVE BACKTEST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658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strategy works—but SPY remains the stronger benchmark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32599" y="1413570"/>
            <a:ext cx="2730401" cy="1070818"/>
          </a:xfrm>
          <a:prstGeom prst="roundRect">
            <a:avLst>
              <a:gd name="adj" fmla="val 9488"/>
            </a:avLst>
          </a:prstGeom>
          <a:solidFill>
            <a:srgbClr val="D7E9E5"/>
          </a:solidFill>
          <a:ln w="9525">
            <a:solidFill>
              <a:srgbClr val="147D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9825" y="1600795"/>
            <a:ext cx="240306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7.75%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9825" y="2019746"/>
            <a:ext cx="2403068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risk-managed compound annual growth rate (CAGR)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32599" y="2611338"/>
            <a:ext cx="2730401" cy="932111"/>
          </a:xfrm>
          <a:prstGeom prst="roundRect">
            <a:avLst>
              <a:gd name="adj" fmla="val 10900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9825" y="2798564"/>
            <a:ext cx="240306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11.96%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9825" y="3217515"/>
            <a:ext cx="2403068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volatility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2599" y="3670399"/>
            <a:ext cx="2730401" cy="814685"/>
          </a:xfrm>
          <a:prstGeom prst="roundRect">
            <a:avLst>
              <a:gd name="adj" fmla="val 12471"/>
            </a:avLst>
          </a:prstGeom>
          <a:solidFill>
            <a:srgbClr val="F1D8D1"/>
          </a:solidFill>
          <a:ln w="9525">
            <a:solidFill>
              <a:srgbClr val="B64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9825" y="3857625"/>
            <a:ext cx="2403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B6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−6.19 percentage points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9825" y="4159151"/>
            <a:ext cx="2403068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gap versus SPY only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1000" y="4586585"/>
            <a:ext cx="854964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strategies use the same next-close execution dates and transaction-cost model. SPY-only CAGR is 13.94%.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4910138"/>
            <a:ext cx="2535746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of modeled ETF costs · 2014-09-26 to 2026-06-08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7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81000" y="1413570"/>
          <a:ext cx="5143500" cy="292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RISK TRADE-OFF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volatility layer controls risk, not forecasting skill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70699" y="1109960"/>
            <a:ext cx="2692301" cy="1070818"/>
          </a:xfrm>
          <a:prstGeom prst="roundRect">
            <a:avLst>
              <a:gd name="adj" fmla="val 9488"/>
            </a:avLst>
          </a:prstGeom>
          <a:solidFill>
            <a:srgbClr val="D7E9E5"/>
          </a:solidFill>
          <a:ln w="9525">
            <a:solidFill>
              <a:srgbClr val="147D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57925" y="1297186"/>
            <a:ext cx="23642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−3.0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57925" y="1716137"/>
            <a:ext cx="2364206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 of annualized volatility versus unscaled top-two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70699" y="2320379"/>
            <a:ext cx="2692301" cy="1070818"/>
          </a:xfrm>
          <a:prstGeom prst="roundRect">
            <a:avLst>
              <a:gd name="adj" fmla="val 9488"/>
            </a:avLst>
          </a:prstGeom>
          <a:solidFill>
            <a:srgbClr val="F3E2C2"/>
          </a:solidFill>
          <a:ln w="9525">
            <a:solidFill>
              <a:srgbClr val="D894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7925" y="2507605"/>
            <a:ext cx="23642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57925" y="2926556"/>
            <a:ext cx="2364206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 of maximum-drawdown improvement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70699" y="3543598"/>
            <a:ext cx="274614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fell materially, but drawdown barely changed and Sharpe ratio declined from 0.819 to 0.689.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4910138"/>
            <a:ext cx="302152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Risk-managed top-two versus the same allocation without scaling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7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81000" y="1109960"/>
          <a:ext cx="5206901" cy="2984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50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54964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47D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ROBUSTNESS AND LIMITS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552301"/>
            <a:ext cx="8549640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finding is directionally stable, but not yet validated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135261"/>
            <a:ext cx="3555950" cy="1901577"/>
          </a:xfrm>
          <a:prstGeom prst="roundRect">
            <a:avLst>
              <a:gd name="adj" fmla="val 5343"/>
            </a:avLst>
          </a:prstGeom>
          <a:solidFill>
            <a:srgbClr val="FFFFFF"/>
          </a:solidFill>
          <a:ln w="9525">
            <a:solidFill>
              <a:srgbClr val="C9C2B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322487"/>
            <a:ext cx="3245129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rebalance starting phases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8226" y="1742777"/>
            <a:ext cx="10395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8226" y="2161729"/>
            <a:ext cx="1039558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CAGR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66751" y="1742777"/>
            <a:ext cx="112699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66751" y="2161729"/>
            <a:ext cx="1126998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CAGR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51002" y="1742777"/>
            <a:ext cx="111728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5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51002" y="2161729"/>
            <a:ext cx="1117283" cy="13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CAGR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8226" y="2516237"/>
            <a:ext cx="32451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17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ratio spans 0.596 to 0.805. Results are not driven by one arbitrary starting offset.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3189238"/>
            <a:ext cx="3555950" cy="977503"/>
          </a:xfrm>
          <a:prstGeom prst="roundRect">
            <a:avLst>
              <a:gd name="adj" fmla="val 10394"/>
            </a:avLst>
          </a:prstGeom>
          <a:solidFill>
            <a:srgbClr val="F3E2C2"/>
          </a:solidFill>
          <a:ln w="9525">
            <a:solidFill>
              <a:srgbClr val="D894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3376464"/>
            <a:ext cx="3245129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warning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8226" y="3646140"/>
            <a:ext cx="32451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500"/>
              </a:spcBef>
              <a:buNone/>
            </a:pPr>
            <a:r>
              <a:rPr lang="en-US" sz="10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perfect-foresight result uses future returns and is not tradable.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5550" y="1135261"/>
            <a:ext cx="4597450" cy="3031480"/>
          </a:xfrm>
          <a:prstGeom prst="roundRect">
            <a:avLst>
              <a:gd name="adj" fmla="val 3352"/>
            </a:avLst>
          </a:prstGeom>
          <a:solidFill>
            <a:srgbClr val="F1D8D1"/>
          </a:solidFill>
          <a:ln w="9525">
            <a:solidFill>
              <a:srgbClr val="B64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52776" y="1322487"/>
            <a:ext cx="430745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still limits the claim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52776" y="1628477"/>
            <a:ext cx="4222998" cy="19044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families and horizon were explored on this same history.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PX_LAST adjustment and dividend treatment need vendor confirmation.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is modeled at 0%; costs omit changing spreads and market impact.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 volatility data were excluded, not repaired.</a:t>
            </a:r>
            <a:endParaRPr lang="en-US" sz="1250" dirty="0"/>
          </a:p>
          <a:p>
            <a:pPr algn="l" marL="114300" indent="-114300">
              <a:lnSpc>
                <a:spcPts val="1525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untouched future period is still required.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1000" y="4910138"/>
            <a:ext cx="229285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evidence, not an investable validation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63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3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698450" cy="50750"/>
          </a:xfrm>
          <a:prstGeom prst="rect">
            <a:avLst/>
          </a:prstGeom>
          <a:solidFill>
            <a:srgbClr val="D894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4150" y="711101"/>
            <a:ext cx="8096199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D89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DECISION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84150" y="958602"/>
            <a:ext cx="809619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Promising signal research.</a:t>
            </a:r>
            <a:endParaRPr lang="en-US" sz="340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a benchmark-beating strategy.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84150" y="2268438"/>
            <a:ext cx="2544217" cy="0"/>
          </a:xfrm>
          <a:prstGeom prst="line">
            <a:avLst/>
          </a:prstGeom>
          <a:noFill/>
          <a:ln w="19050">
            <a:solidFill>
              <a:srgbClr val="147D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150" y="2430363"/>
            <a:ext cx="259510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4150" y="2849314"/>
            <a:ext cx="25951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 and EZU show modest out-of-fold ranking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80767" y="2268438"/>
            <a:ext cx="2544217" cy="0"/>
          </a:xfrm>
          <a:prstGeom prst="line">
            <a:avLst/>
          </a:prstGeom>
          <a:noFill/>
          <a:ln w="19050">
            <a:solidFill>
              <a:srgbClr val="D894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0767" y="2430363"/>
            <a:ext cx="259510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80767" y="2849314"/>
            <a:ext cx="25951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scaling lowers risk but does not improve the core selection edge.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77384" y="2268438"/>
            <a:ext cx="2544217" cy="0"/>
          </a:xfrm>
          <a:prstGeom prst="line">
            <a:avLst/>
          </a:prstGeom>
          <a:noFill/>
          <a:ln w="19050">
            <a:solidFill>
              <a:srgbClr val="B6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7384" y="2430363"/>
            <a:ext cx="2595101" cy="3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77384" y="2849314"/>
            <a:ext cx="25951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SPY-only wins on CAGR and Sharpe ratio in the corrected sample.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4150" y="3776365"/>
            <a:ext cx="7937450" cy="767953"/>
          </a:xfrm>
          <a:prstGeom prst="roundRect">
            <a:avLst>
              <a:gd name="adj" fmla="val 11576"/>
            </a:avLst>
          </a:prstGeom>
          <a:solidFill>
            <a:srgbClr val="147D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9951" y="3954066"/>
            <a:ext cx="7655966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test: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freeze the specification, confirm total-return data, and evaluate only on new observations.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1000" y="4910138"/>
            <a:ext cx="1243584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DDE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Equity Rotation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553450" y="4910138"/>
            <a:ext cx="213741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750" dirty="0">
                <a:solidFill>
                  <a:srgbClr val="DDE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Master of Mathematical Finance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Equity Rotation</dc:title>
  <dc:subject>Exploratory geographic equity rotation research</dc:subject>
  <dc:creator>Alex Khadra, Matthew Antoniuk, and Gerard Wu</dc:creator>
  <cp:lastModifiedBy>Alex Khadra, Matthew Antoniuk, and Gerard Wu</cp:lastModifiedBy>
  <cp:revision>1</cp:revision>
  <dcterms:created xsi:type="dcterms:W3CDTF">2026-07-31T15:24:53Z</dcterms:created>
  <dcterms:modified xsi:type="dcterms:W3CDTF">2026-07-31T15:24:53Z</dcterms:modified>
</cp:coreProperties>
</file>