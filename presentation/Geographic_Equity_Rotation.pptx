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rts/chart1.xml" ContentType="application/vnd.openxmlformats-officedocument.drawingml.chart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rts/chart2.xml" ContentType="application/vnd.openxmlformats-officedocument.drawingml.chart+xml"/>
  <Override PartName="/ppt/notesSlides/notesSlide13.xml" ContentType="application/vnd.openxmlformats-officedocument.presentationml.notesSlide+xml"/>
  <Override PartName="/ppt/charts/chart3.xml" ContentType="application/vnd.openxmlformats-officedocument.drawingml.chart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rts/chart4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530"/>
    <p:restoredTop sz="94610"/>
  </p:normalViewPr>
  <p:slideViewPr>
    <p:cSldViewPr snapToGrid="0" snapToObjects="1">
      <p:cViewPr varScale="1">
        <p:scale>
          <a:sx n="96" d="100"/>
          <a:sy n="96" d="100"/>
        </p:scale>
        <p:origin x="168" y="4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000000"/>
                </a:solidFill>
                <a:latin typeface="Aptos"/>
              </a:defRPr>
            </a:pPr>
            <a:r>
              <a:rPr lang="en-CA" sz="1500" b="0" i="0" u="none" strike="noStrike">
                <a:solidFill>
                  <a:srgbClr val="000000"/>
                </a:solidFill>
                <a:latin typeface="Aptos"/>
              </a:rPr>
              <a:t>Mean fold rank IC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Mean fold rank IC</c:v>
                </c:pt>
              </c:strCache>
            </c:strRef>
          </c:tx>
          <c:spPr>
            <a:solidFill>
              <a:srgbClr val="2E67B2"/>
            </a:solidFill>
            <a:effectLst/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50" b="0" i="0" u="none" strike="noStrike">
                    <a:solidFill>
                      <a:srgbClr val="0B1526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EWJ</c:v>
                </c:pt>
                <c:pt idx="1">
                  <c:v>EZU</c:v>
                </c:pt>
                <c:pt idx="2">
                  <c:v>SPY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7.6999999999999999E-2</c:v>
                </c:pt>
                <c:pt idx="1">
                  <c:v>0.17299999999999999</c:v>
                </c:pt>
                <c:pt idx="2">
                  <c:v>0.17799999999999999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CF3-9041-A4E1-2FBF72DDE17C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20" b="0" i="0" u="none" strike="noStrike">
                <a:solidFill>
                  <a:srgbClr val="000000"/>
                </a:solidFill>
                <a:latin typeface="Aptos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25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pto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D5DCE7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000000"/>
                </a:solidFill>
                <a:latin typeface="Aptos"/>
              </a:defRPr>
            </a:pPr>
            <a:r>
              <a:rPr lang="en-CA" sz="1500" b="0" i="0" u="none" strike="noStrike">
                <a:solidFill>
                  <a:srgbClr val="000000"/>
                </a:solidFill>
                <a:latin typeface="Aptos"/>
              </a:rPr>
              <a:t>Compound annual growth rate (%)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Compound annual growth rate (%)</c:v>
                </c:pt>
              </c:strCache>
            </c:strRef>
          </c:tx>
          <c:spPr>
            <a:solidFill>
              <a:srgbClr val="2E67B2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50" b="0" i="0" u="none" strike="noStrike">
                    <a:solidFill>
                      <a:srgbClr val="0B1526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Risk-managed top-two</c:v>
                </c:pt>
                <c:pt idx="1">
                  <c:v>Equal weight</c:v>
                </c:pt>
                <c:pt idx="2">
                  <c:v>Top-two unscaled</c:v>
                </c:pt>
                <c:pt idx="3">
                  <c:v>Single-asset rotation</c:v>
                </c:pt>
                <c:pt idx="4">
                  <c:v>SPY only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7.75</c:v>
                </c:pt>
                <c:pt idx="1">
                  <c:v>10.119999999999999</c:v>
                </c:pt>
                <c:pt idx="2">
                  <c:v>11.65</c:v>
                </c:pt>
                <c:pt idx="3">
                  <c:v>12.51</c:v>
                </c:pt>
                <c:pt idx="4">
                  <c:v>13.94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E2F-3F47-8DE5-B6B396021A58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20" b="0" i="0" u="none" strike="noStrike">
                <a:solidFill>
                  <a:srgbClr val="000000"/>
                </a:solidFill>
                <a:latin typeface="Aptos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6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pto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D5DCE7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000000"/>
                </a:solidFill>
                <a:latin typeface="Aptos"/>
              </a:defRPr>
            </a:pPr>
            <a:r>
              <a:rPr lang="en-CA" sz="1500" b="0" i="0" u="none" strike="noStrike">
                <a:solidFill>
                  <a:srgbClr val="000000"/>
                </a:solidFill>
                <a:latin typeface="Aptos"/>
              </a:rPr>
              <a:t>Risk-managed vs unscaled top-two (%)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Risk-managed top-two</c:v>
                </c:pt>
              </c:strCache>
            </c:strRef>
          </c:tx>
          <c:spPr>
            <a:solidFill>
              <a:srgbClr val="14877C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CAGR</c:v>
                </c:pt>
                <c:pt idx="1">
                  <c:v>Annual vol.</c:v>
                </c:pt>
                <c:pt idx="2">
                  <c:v>Max drawdown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7.75</c:v>
                </c:pt>
                <c:pt idx="1">
                  <c:v>11.96</c:v>
                </c:pt>
                <c:pt idx="2">
                  <c:v>27.56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D30-494D-91DA-4D013CC95D1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Top-two unscaled</c:v>
                </c:pt>
              </c:strCache>
            </c:strRef>
          </c:tx>
          <c:spPr>
            <a:solidFill>
              <a:srgbClr val="D5A11E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CAGR</c:v>
                </c:pt>
                <c:pt idx="1">
                  <c:v>Annual vol.</c:v>
                </c:pt>
                <c:pt idx="2">
                  <c:v>Max drawdown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11.65</c:v>
                </c:pt>
                <c:pt idx="1">
                  <c:v>14.91</c:v>
                </c:pt>
                <c:pt idx="2">
                  <c:v>27.85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7D30-494D-91DA-4D013CC95D1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2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2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8"/>
      </c:valAx>
      <c:spPr>
        <a:noFill/>
        <a:ln w="12700" cap="flat">
          <a:solidFill>
            <a:srgbClr val="D5DCE7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1000"/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000000"/>
                </a:solidFill>
                <a:latin typeface="Aptos"/>
              </a:defRPr>
            </a:pPr>
            <a:r>
              <a:rPr lang="en-CA" sz="1500" b="0" i="0" u="none" strike="noStrike">
                <a:solidFill>
                  <a:srgbClr val="000000"/>
                </a:solidFill>
                <a:latin typeface="Aptos"/>
              </a:rPr>
              <a:t>CAGR comparison (%)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CAGR comparison (%)</c:v>
                </c:pt>
              </c:strCache>
            </c:strRef>
          </c:tx>
          <c:spPr>
            <a:solidFill>
              <a:srgbClr val="D5A11E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50" b="0" i="0" u="none" strike="noStrike">
                    <a:solidFill>
                      <a:srgbClr val="0B1526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Risk-managed</c:v>
                </c:pt>
                <c:pt idx="1">
                  <c:v>Rotation</c:v>
                </c:pt>
                <c:pt idx="2">
                  <c:v>SPY only</c:v>
                </c:pt>
                <c:pt idx="3">
                  <c:v>Oracle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7.75</c:v>
                </c:pt>
                <c:pt idx="1">
                  <c:v>12.51</c:v>
                </c:pt>
                <c:pt idx="2">
                  <c:v>13.94</c:v>
                </c:pt>
                <c:pt idx="3">
                  <c:v>37.72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C79-AC4B-B770-638948D85CE1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20" b="0" i="0" u="none" strike="noStrike">
                <a:solidFill>
                  <a:srgbClr val="000000"/>
                </a:solidFill>
                <a:latin typeface="Aptos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42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pto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D5DCE7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453802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one-line thesis: FX options skew is a market price for directional currency demand; we test whether it helps rotate among U.S., Eurozone, and Japanese equities.
Final presentation version using the latest StrategyPipeline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 deck as a disciplined test, not a marketing pitch.
The allocation section focuses on one simple rule rather than a large hyperparameter search.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Provenance discipline: raw extracts remain untouched; the valid-session panel reflects removal of copied closed-market rows.
Raw extracts are read, not overwritten; transformations live in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this as context only. SPY dominance makes the benchmark bar very high.
Daily correlations leave diversification room but collapse upward in stress periods.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justifies rolling risk estimates and walk-forward validation.
Point out that diversification is needed most when it often works least.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Spend time here: this is the creative core of the project.
Acknowledge that we did not test spot FX returns as a control; that is a limitation.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NKYVF data-quality issue is folded into the feature-design discussion.
Be clear: dropping NKYVF reduces feature count for EWJ and keeps the model honest.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the timeline slowly. The target is designed so the trade happens at the next valid close.
The 21-session purge covers the target horizon plus the next-close execution lag.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Ridge means linear regression with a penalty that shrinks coefficients toward zero.
Avoid claiming sophisticated machine learning. The strength is the validation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Rank information coefficient means Spearman correlation between the model ranking and the realized return ranking.
Do not overstate this: fold dispersion is large, and the COVID fold contributes heavily.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allocation rule is less exciting than a large search, but much cleaner.
The rule converts forecasts into ranks because expected-return magnitudes are unstable.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numbers come from the latest StrategyPipeline notebook.
The strategy does not fail as a research result; it fails as a standalone benchmark-beating trade.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prevents the audience from confusing risk management with alpha generation.
Scaling can lower volatility while still lowering Sharpe if the cash drag is too high or timing is weak.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result comes from the corrected notebook and makes the schedule choice less arbitrary.
Be careful: it does not prove the feature-development process was independent.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oracle is perfect foresight and uses future information.
Its role is to show that rotation had value in principle, not that our signal reached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15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401568" cy="6858000"/>
          </a:xfrm>
          <a:prstGeom prst="rect">
            <a:avLst/>
          </a:prstGeom>
          <a:solidFill>
            <a:srgbClr val="102857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401568" y="0"/>
            <a:ext cx="109728" cy="6858000"/>
          </a:xfrm>
          <a:prstGeom prst="rect">
            <a:avLst/>
          </a:prstGeom>
          <a:solidFill>
            <a:srgbClr val="D5A11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685800"/>
            <a:ext cx="2212848" cy="2212848"/>
          </a:xfrm>
          <a:prstGeom prst="arc">
            <a:avLst/>
          </a:prstGeom>
          <a:noFill/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70432" y="1225296"/>
            <a:ext cx="1143000" cy="1143000"/>
          </a:xfrm>
          <a:prstGeom prst="arc">
            <a:avLst/>
          </a:prstGeom>
          <a:noFill/>
          <a:ln w="12700">
            <a:solidFill>
              <a:srgbClr val="D5A11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4919472"/>
            <a:ext cx="226771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270" dirty="0">
                <a:solidFill>
                  <a:srgbClr val="DFE9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SPY · United States</a:t>
            </a:r>
            <a:endParaRPr lang="en-US" sz="1270" dirty="0"/>
          </a:p>
          <a:p>
            <a:pPr marL="0" indent="0" algn="l">
              <a:buNone/>
            </a:pPr>
            <a:r>
              <a:rPr lang="en-US" sz="1270" dirty="0">
                <a:solidFill>
                  <a:srgbClr val="DFE9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EZU · Eurozone</a:t>
            </a:r>
            <a:endParaRPr lang="en-US" sz="1270" dirty="0"/>
          </a:p>
          <a:p>
            <a:pPr marL="0" indent="0" algn="l">
              <a:buNone/>
            </a:pPr>
            <a:r>
              <a:rPr lang="en-US" sz="1270" dirty="0">
                <a:solidFill>
                  <a:srgbClr val="DFE9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EWJ · Japan</a:t>
            </a:r>
            <a:endParaRPr lang="en-US" sz="1270" dirty="0"/>
          </a:p>
        </p:txBody>
      </p:sp>
      <p:sp>
        <p:nvSpPr>
          <p:cNvPr id="7" name="Text 5"/>
          <p:cNvSpPr/>
          <p:nvPr/>
        </p:nvSpPr>
        <p:spPr>
          <a:xfrm>
            <a:off x="4041648" y="658368"/>
            <a:ext cx="5669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80" b="1" dirty="0">
                <a:solidFill>
                  <a:srgbClr val="D5A1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MMF1927H · WORKSHOP IN MATHEMATICAL FINANCE</a:t>
            </a:r>
            <a:endParaRPr lang="en-US" sz="980" dirty="0"/>
          </a:p>
        </p:txBody>
      </p:sp>
      <p:sp>
        <p:nvSpPr>
          <p:cNvPr id="8" name="Text 6"/>
          <p:cNvSpPr/>
          <p:nvPr/>
        </p:nvSpPr>
        <p:spPr>
          <a:xfrm>
            <a:off x="4005072" y="1024128"/>
            <a:ext cx="6903720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Currency Skew as a</a:t>
            </a:r>
            <a:endParaRPr lang="en-US" sz="3150" dirty="0"/>
          </a:p>
          <a:p>
            <a:pPr marL="0" indent="0">
              <a:buNone/>
            </a:pPr>
            <a:r>
              <a:rPr lang="en-US" sz="31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Cross-Asset Equity</a:t>
            </a:r>
            <a:endParaRPr lang="en-US" sz="3150" dirty="0"/>
          </a:p>
          <a:p>
            <a:pPr marL="0" indent="0">
              <a:buNone/>
            </a:pPr>
            <a:r>
              <a:rPr lang="en-US" sz="31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Signal</a:t>
            </a:r>
            <a:endParaRPr lang="en-US" sz="3150" dirty="0"/>
          </a:p>
        </p:txBody>
      </p:sp>
      <p:sp>
        <p:nvSpPr>
          <p:cNvPr id="9" name="Text 7"/>
          <p:cNvSpPr/>
          <p:nvPr/>
        </p:nvSpPr>
        <p:spPr>
          <a:xfrm>
            <a:off x="4041648" y="3072384"/>
            <a:ext cx="5623560" cy="43891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marL="0" indent="0" algn="l">
              <a:buNone/>
            </a:pPr>
            <a:r>
              <a:rPr lang="en-US" sz="1330" dirty="0">
                <a:solidFill>
                  <a:srgbClr val="CDD7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regional equity-rotation pipeline built on FX option skew, market momentum, and tradable execution timing.</a:t>
            </a:r>
            <a:endParaRPr lang="en-US" sz="1330" dirty="0"/>
          </a:p>
        </p:txBody>
      </p:sp>
      <p:sp>
        <p:nvSpPr>
          <p:cNvPr id="10" name="Shape 8"/>
          <p:cNvSpPr/>
          <p:nvPr/>
        </p:nvSpPr>
        <p:spPr>
          <a:xfrm>
            <a:off x="4041648" y="4407408"/>
            <a:ext cx="3246120" cy="310896"/>
          </a:xfrm>
          <a:prstGeom prst="roundRect">
            <a:avLst>
              <a:gd name="adj" fmla="val 23529"/>
            </a:avLst>
          </a:prstGeom>
          <a:solidFill>
            <a:srgbClr val="2B3E6C"/>
          </a:solidFill>
          <a:ln w="12700">
            <a:solidFill>
              <a:srgbClr val="D5A11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51376" y="4489704"/>
            <a:ext cx="3026664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880" b="1" dirty="0">
                <a:solidFill>
                  <a:srgbClr val="D5A1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FINAL GROUP PROJECT · 31 JULY 2026</a:t>
            </a:r>
            <a:endParaRPr lang="en-US" sz="880" dirty="0"/>
          </a:p>
        </p:txBody>
      </p:sp>
      <p:sp>
        <p:nvSpPr>
          <p:cNvPr id="12" name="Text 10"/>
          <p:cNvSpPr/>
          <p:nvPr/>
        </p:nvSpPr>
        <p:spPr>
          <a:xfrm>
            <a:off x="4041648" y="5001768"/>
            <a:ext cx="4297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4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Alex Khadra · Matthew Antoniuk · Gerard Wu</a:t>
            </a:r>
            <a:endParaRPr lang="en-US" sz="1140" dirty="0"/>
          </a:p>
        </p:txBody>
      </p:sp>
      <p:sp>
        <p:nvSpPr>
          <p:cNvPr id="13" name="Text 11"/>
          <p:cNvSpPr/>
          <p:nvPr/>
        </p:nvSpPr>
        <p:spPr>
          <a:xfrm>
            <a:off x="4041648" y="5376672"/>
            <a:ext cx="4297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D7E1E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github.com/GerardWu100/geographic-equity-rotation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9582912" y="4480560"/>
            <a:ext cx="1773936" cy="749808"/>
          </a:xfrm>
          <a:prstGeom prst="roundRect">
            <a:avLst>
              <a:gd name="adj" fmla="val 9756"/>
            </a:avLst>
          </a:prstGeom>
          <a:solidFill>
            <a:srgbClr val="132B5E"/>
          </a:solidFill>
          <a:ln w="12700">
            <a:solidFill>
              <a:srgbClr val="2B529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857232" y="4690872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D5A1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ASSETS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9857232" y="4965192"/>
            <a:ext cx="9875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04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SPY · EZU · EWJ</a:t>
            </a:r>
            <a:endParaRPr lang="en-US" sz="104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15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6565392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C8D2E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MMF1927H · Final Group Project · 31 July 2026</a:t>
            </a:r>
            <a:endParaRPr lang="en-US" sz="780" dirty="0"/>
          </a:p>
        </p:txBody>
      </p:sp>
      <p:sp>
        <p:nvSpPr>
          <p:cNvPr id="3" name="Text 1"/>
          <p:cNvSpPr/>
          <p:nvPr/>
        </p:nvSpPr>
        <p:spPr>
          <a:xfrm>
            <a:off x="11109960" y="6565392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780" dirty="0">
                <a:solidFill>
                  <a:srgbClr val="C8D2E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 / 17</a:t>
            </a:r>
            <a:endParaRPr lang="en-US" sz="780" dirty="0"/>
          </a:p>
        </p:txBody>
      </p:sp>
      <p:sp>
        <p:nvSpPr>
          <p:cNvPr id="4" name="Shape 2"/>
          <p:cNvSpPr/>
          <p:nvPr/>
        </p:nvSpPr>
        <p:spPr>
          <a:xfrm>
            <a:off x="502920" y="347472"/>
            <a:ext cx="932688" cy="64008"/>
          </a:xfrm>
          <a:prstGeom prst="rect">
            <a:avLst/>
          </a:prstGeom>
          <a:solidFill>
            <a:srgbClr val="D5A11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566928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20" b="1" dirty="0">
                <a:solidFill>
                  <a:srgbClr val="D5A1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QUESTION</a:t>
            </a:r>
            <a:endParaRPr lang="en-US" sz="920" dirty="0"/>
          </a:p>
        </p:txBody>
      </p:sp>
      <p:sp>
        <p:nvSpPr>
          <p:cNvPr id="6" name="Text 4"/>
          <p:cNvSpPr/>
          <p:nvPr/>
        </p:nvSpPr>
        <p:spPr>
          <a:xfrm>
            <a:off x="530352" y="859536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We Set Out to Test</a:t>
            </a:r>
            <a:endParaRPr lang="en-US" sz="2950" dirty="0"/>
          </a:p>
        </p:txBody>
      </p:sp>
      <p:sp>
        <p:nvSpPr>
          <p:cNvPr id="7" name="Text 5"/>
          <p:cNvSpPr/>
          <p:nvPr/>
        </p:nvSpPr>
        <p:spPr>
          <a:xfrm>
            <a:off x="548640" y="1472184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C9D3E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Does the price of currency optionality tell us where regional equities go next?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22960" y="2057400"/>
            <a:ext cx="3063240" cy="2057400"/>
          </a:xfrm>
          <a:prstGeom prst="roundRect">
            <a:avLst>
              <a:gd name="adj" fmla="val 3556"/>
            </a:avLst>
          </a:prstGeom>
          <a:solidFill>
            <a:srgbClr val="132B5E"/>
          </a:solidFill>
          <a:ln w="12700">
            <a:solidFill>
              <a:srgbClr val="28488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51560" y="2331720"/>
            <a:ext cx="320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400" dirty="0">
                <a:solidFill>
                  <a:srgbClr val="D5A1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536192" y="2359152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56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Build</a:t>
            </a:r>
            <a:endParaRPr lang="en-US" sz="1560" dirty="0"/>
          </a:p>
        </p:txBody>
      </p:sp>
      <p:sp>
        <p:nvSpPr>
          <p:cNvPr id="11" name="Text 9"/>
          <p:cNvSpPr/>
          <p:nvPr/>
        </p:nvSpPr>
        <p:spPr>
          <a:xfrm>
            <a:off x="1115568" y="2999232"/>
            <a:ext cx="2468880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240" dirty="0">
                <a:solidFill>
                  <a:srgbClr val="D9E2E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Bloomberg panel → regional features → per-ETF Ridge models → simple top-two allocation.</a:t>
            </a:r>
            <a:endParaRPr lang="en-US" sz="1240" dirty="0"/>
          </a:p>
        </p:txBody>
      </p:sp>
      <p:sp>
        <p:nvSpPr>
          <p:cNvPr id="12" name="Shape 10"/>
          <p:cNvSpPr/>
          <p:nvPr/>
        </p:nvSpPr>
        <p:spPr>
          <a:xfrm>
            <a:off x="4526280" y="2057400"/>
            <a:ext cx="3063240" cy="2057400"/>
          </a:xfrm>
          <a:prstGeom prst="roundRect">
            <a:avLst>
              <a:gd name="adj" fmla="val 3556"/>
            </a:avLst>
          </a:prstGeom>
          <a:solidFill>
            <a:srgbClr val="132B5E"/>
          </a:solidFill>
          <a:ln w="12700">
            <a:solidFill>
              <a:srgbClr val="28488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0" y="2331720"/>
            <a:ext cx="320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400" dirty="0">
                <a:solidFill>
                  <a:srgbClr val="D5A1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5239512" y="2359152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56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Validate</a:t>
            </a:r>
            <a:endParaRPr lang="en-US" sz="1560" dirty="0"/>
          </a:p>
        </p:txBody>
      </p:sp>
      <p:sp>
        <p:nvSpPr>
          <p:cNvPr id="15" name="Text 13"/>
          <p:cNvSpPr/>
          <p:nvPr/>
        </p:nvSpPr>
        <p:spPr>
          <a:xfrm>
            <a:off x="4818888" y="2999232"/>
            <a:ext cx="2468880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240" dirty="0">
                <a:solidFill>
                  <a:srgbClr val="D9E2E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Remove duplicated closed-market rows, use tradable next-close timing, and purge overlapping labels.</a:t>
            </a:r>
            <a:endParaRPr lang="en-US" sz="1240" dirty="0"/>
          </a:p>
        </p:txBody>
      </p:sp>
      <p:sp>
        <p:nvSpPr>
          <p:cNvPr id="16" name="Shape 14"/>
          <p:cNvSpPr/>
          <p:nvPr/>
        </p:nvSpPr>
        <p:spPr>
          <a:xfrm>
            <a:off x="8229600" y="2057400"/>
            <a:ext cx="3063240" cy="2057400"/>
          </a:xfrm>
          <a:prstGeom prst="roundRect">
            <a:avLst>
              <a:gd name="adj" fmla="val 3556"/>
            </a:avLst>
          </a:prstGeom>
          <a:solidFill>
            <a:srgbClr val="203A72"/>
          </a:solidFill>
          <a:ln w="12700">
            <a:solidFill>
              <a:srgbClr val="D5A11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58200" y="2331720"/>
            <a:ext cx="320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400" dirty="0">
                <a:solidFill>
                  <a:srgbClr val="D5A1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8942832" y="2359152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56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Result</a:t>
            </a:r>
            <a:endParaRPr lang="en-US" sz="1560" dirty="0"/>
          </a:p>
        </p:txBody>
      </p:sp>
      <p:sp>
        <p:nvSpPr>
          <p:cNvPr id="19" name="Text 17"/>
          <p:cNvSpPr/>
          <p:nvPr/>
        </p:nvSpPr>
        <p:spPr>
          <a:xfrm>
            <a:off x="8522208" y="2999232"/>
            <a:ext cx="2468880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240" dirty="0">
                <a:solidFill>
                  <a:srgbClr val="D9E2E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signal is real but modest; the strategy compounds, yet SPY-only still wins.</a:t>
            </a:r>
            <a:endParaRPr lang="en-US" sz="1240" dirty="0"/>
          </a:p>
        </p:txBody>
      </p:sp>
      <p:sp>
        <p:nvSpPr>
          <p:cNvPr id="20" name="Shape 18"/>
          <p:cNvSpPr/>
          <p:nvPr/>
        </p:nvSpPr>
        <p:spPr>
          <a:xfrm>
            <a:off x="685800" y="5504688"/>
            <a:ext cx="10835640" cy="475488"/>
          </a:xfrm>
          <a:prstGeom prst="roundRect">
            <a:avLst>
              <a:gd name="adj" fmla="val 11538"/>
            </a:avLst>
          </a:prstGeom>
          <a:solidFill>
            <a:srgbClr val="D5A11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96112" y="5660136"/>
            <a:ext cx="10378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060" b="1" dirty="0">
                <a:solidFill>
                  <a:srgbClr val="07152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TAKEAWAY  A clean negative-to-neutral result is the point: evidence first, benchmark claims second.</a:t>
            </a:r>
            <a:endParaRPr lang="en-US" sz="106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6565392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5E6E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MMF1927H · Final Group Project · 31 July 2026</a:t>
            </a:r>
            <a:endParaRPr lang="en-US" sz="780" dirty="0"/>
          </a:p>
        </p:txBody>
      </p:sp>
      <p:sp>
        <p:nvSpPr>
          <p:cNvPr id="3" name="Text 1"/>
          <p:cNvSpPr/>
          <p:nvPr/>
        </p:nvSpPr>
        <p:spPr>
          <a:xfrm>
            <a:off x="11109960" y="6565392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780" dirty="0">
                <a:solidFill>
                  <a:srgbClr val="5E6E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 / 17</a:t>
            </a:r>
            <a:endParaRPr lang="en-US" sz="780" dirty="0"/>
          </a:p>
        </p:txBody>
      </p:sp>
      <p:sp>
        <p:nvSpPr>
          <p:cNvPr id="4" name="Shape 2"/>
          <p:cNvSpPr/>
          <p:nvPr/>
        </p:nvSpPr>
        <p:spPr>
          <a:xfrm>
            <a:off x="502920" y="347472"/>
            <a:ext cx="932688" cy="64008"/>
          </a:xfrm>
          <a:prstGeom prst="rect">
            <a:avLst/>
          </a:prstGeom>
          <a:solidFill>
            <a:srgbClr val="D5A11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566928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20" b="1" dirty="0">
                <a:solidFill>
                  <a:srgbClr val="D5A1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· DAY 1</a:t>
            </a:r>
            <a:endParaRPr lang="en-US" sz="920" dirty="0"/>
          </a:p>
        </p:txBody>
      </p:sp>
      <p:sp>
        <p:nvSpPr>
          <p:cNvPr id="6" name="Text 4"/>
          <p:cNvSpPr/>
          <p:nvPr/>
        </p:nvSpPr>
        <p:spPr>
          <a:xfrm>
            <a:off x="530352" y="859536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950" b="1" dirty="0">
                <a:solidFill>
                  <a:srgbClr val="0B15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&amp; Provenance</a:t>
            </a:r>
            <a:endParaRPr lang="en-US" sz="2950" dirty="0"/>
          </a:p>
        </p:txBody>
      </p:sp>
      <p:sp>
        <p:nvSpPr>
          <p:cNvPr id="7" name="Text 5"/>
          <p:cNvSpPr/>
          <p:nvPr/>
        </p:nvSpPr>
        <p:spPr>
          <a:xfrm>
            <a:off x="548640" y="1472184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5E6E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 Bloomberg extracts become one valid-session panel.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58368" y="1901952"/>
            <a:ext cx="2395728" cy="1389888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5DCE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139696"/>
            <a:ext cx="1874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D5A1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EQUITY ETFS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822960" y="2505456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320" b="1" dirty="0">
                <a:solidFill>
                  <a:srgbClr val="0B15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SPY · EZU · EWJ</a:t>
            </a:r>
            <a:endParaRPr lang="en-US" sz="1320" dirty="0"/>
          </a:p>
        </p:txBody>
      </p:sp>
      <p:sp>
        <p:nvSpPr>
          <p:cNvPr id="11" name="Text 9"/>
          <p:cNvSpPr/>
          <p:nvPr/>
        </p:nvSpPr>
        <p:spPr>
          <a:xfrm>
            <a:off x="822960" y="2852928"/>
            <a:ext cx="1965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40" dirty="0">
                <a:solidFill>
                  <a:srgbClr val="5E6E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PX_LAST, PX_MID, PX_VOLUME</a:t>
            </a:r>
            <a:endParaRPr lang="en-US" sz="1040" dirty="0"/>
          </a:p>
        </p:txBody>
      </p:sp>
      <p:sp>
        <p:nvSpPr>
          <p:cNvPr id="12" name="Shape 10"/>
          <p:cNvSpPr/>
          <p:nvPr/>
        </p:nvSpPr>
        <p:spPr>
          <a:xfrm>
            <a:off x="3447288" y="1901952"/>
            <a:ext cx="2395728" cy="1389888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5DCE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11880" y="2139696"/>
            <a:ext cx="1874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D5A1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VOLATILITY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3611880" y="2505456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320" b="1" dirty="0">
                <a:solidFill>
                  <a:srgbClr val="0B15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VIX · V2X</a:t>
            </a:r>
            <a:endParaRPr lang="en-US" sz="1320" dirty="0"/>
          </a:p>
        </p:txBody>
      </p:sp>
      <p:sp>
        <p:nvSpPr>
          <p:cNvPr id="15" name="Text 13"/>
          <p:cNvSpPr/>
          <p:nvPr/>
        </p:nvSpPr>
        <p:spPr>
          <a:xfrm>
            <a:off x="3611880" y="2852928"/>
            <a:ext cx="1965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40" dirty="0">
                <a:solidFill>
                  <a:srgbClr val="5E6E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NKYVF excluded until verified</a:t>
            </a:r>
            <a:endParaRPr lang="en-US" sz="1040" dirty="0"/>
          </a:p>
        </p:txBody>
      </p:sp>
      <p:sp>
        <p:nvSpPr>
          <p:cNvPr id="16" name="Shape 14"/>
          <p:cNvSpPr/>
          <p:nvPr/>
        </p:nvSpPr>
        <p:spPr>
          <a:xfrm>
            <a:off x="6236208" y="1901952"/>
            <a:ext cx="2395728" cy="1389888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5DCE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0" y="2139696"/>
            <a:ext cx="1874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D5A1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FX SKEW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6400800" y="2505456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320" b="1" dirty="0">
                <a:solidFill>
                  <a:srgbClr val="0B15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EURUSD · USDJPY · EURJPY</a:t>
            </a:r>
            <a:endParaRPr lang="en-US" sz="1320" dirty="0"/>
          </a:p>
        </p:txBody>
      </p:sp>
      <p:sp>
        <p:nvSpPr>
          <p:cNvPr id="19" name="Text 17"/>
          <p:cNvSpPr/>
          <p:nvPr/>
        </p:nvSpPr>
        <p:spPr>
          <a:xfrm>
            <a:off x="6400800" y="2852928"/>
            <a:ext cx="1965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40" dirty="0">
                <a:solidFill>
                  <a:srgbClr val="5E6E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25Δ, 1M risk reversals</a:t>
            </a:r>
            <a:endParaRPr lang="en-US" sz="1040" dirty="0"/>
          </a:p>
        </p:txBody>
      </p:sp>
      <p:sp>
        <p:nvSpPr>
          <p:cNvPr id="20" name="Shape 18"/>
          <p:cNvSpPr/>
          <p:nvPr/>
        </p:nvSpPr>
        <p:spPr>
          <a:xfrm>
            <a:off x="9025128" y="1901952"/>
            <a:ext cx="2395728" cy="1389888"/>
          </a:xfrm>
          <a:prstGeom prst="roundRect">
            <a:avLst>
              <a:gd name="adj" fmla="val 5263"/>
            </a:avLst>
          </a:prstGeom>
          <a:solidFill>
            <a:srgbClr val="DFF4F0"/>
          </a:solidFill>
          <a:ln w="12700">
            <a:solidFill>
              <a:srgbClr val="14877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89720" y="2139696"/>
            <a:ext cx="1874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1487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WINDOW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9189720" y="2505456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320" b="1" dirty="0">
                <a:solidFill>
                  <a:srgbClr val="0B15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2012-02-27 → 2026-07-28</a:t>
            </a:r>
            <a:endParaRPr lang="en-US" sz="1320" dirty="0"/>
          </a:p>
        </p:txBody>
      </p:sp>
      <p:sp>
        <p:nvSpPr>
          <p:cNvPr id="23" name="Text 21"/>
          <p:cNvSpPr/>
          <p:nvPr/>
        </p:nvSpPr>
        <p:spPr>
          <a:xfrm>
            <a:off x="9189720" y="2852928"/>
            <a:ext cx="1965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40" dirty="0">
                <a:solidFill>
                  <a:srgbClr val="5E6E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3,625 valid market sessions</a:t>
            </a:r>
            <a:endParaRPr lang="en-US" sz="1040" dirty="0"/>
          </a:p>
        </p:txBody>
      </p:sp>
      <p:sp>
        <p:nvSpPr>
          <p:cNvPr id="24" name="Text 22"/>
          <p:cNvSpPr/>
          <p:nvPr/>
        </p:nvSpPr>
        <p:spPr>
          <a:xfrm>
            <a:off x="914400" y="3913632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dirty="0">
                <a:solidFill>
                  <a:srgbClr val="BF45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137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914400" y="437083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5E6E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copied rows removed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3703320" y="3913632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dirty="0">
                <a:solidFill>
                  <a:srgbClr val="1487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3,625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3703320" y="437083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5E6E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 observations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6492240" y="3913632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dirty="0">
                <a:solidFill>
                  <a:srgbClr val="1487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2,954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6492240" y="437083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5E6E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prediction decisions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9281160" y="3913632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dirty="0">
                <a:solidFill>
                  <a:srgbClr val="D5A1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 / 9 / 6</a:t>
            </a:r>
            <a:endParaRPr lang="en-US" sz="2400" dirty="0"/>
          </a:p>
        </p:txBody>
      </p:sp>
      <p:sp>
        <p:nvSpPr>
          <p:cNvPr id="31" name="Text 29"/>
          <p:cNvSpPr/>
          <p:nvPr/>
        </p:nvSpPr>
        <p:spPr>
          <a:xfrm>
            <a:off x="9281160" y="437083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5E6E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features: SPY / EZU / EWJ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85800" y="5522976"/>
            <a:ext cx="10835640" cy="475488"/>
          </a:xfrm>
          <a:prstGeom prst="roundRect">
            <a:avLst>
              <a:gd name="adj" fmla="val 11538"/>
            </a:avLst>
          </a:prstGeom>
          <a:solidFill>
            <a:srgbClr val="07152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96112" y="5678424"/>
            <a:ext cx="10378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06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TAKEAWAY  The result is about three liquid regional ETFs; it is not a proof across a broad universe.</a:t>
            </a:r>
            <a:endParaRPr lang="en-US" sz="106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6565392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5E6E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MMF1927H · Final Group Project · 31 July 2026</a:t>
            </a:r>
            <a:endParaRPr lang="en-US" sz="780" dirty="0"/>
          </a:p>
        </p:txBody>
      </p:sp>
      <p:sp>
        <p:nvSpPr>
          <p:cNvPr id="3" name="Text 1"/>
          <p:cNvSpPr/>
          <p:nvPr/>
        </p:nvSpPr>
        <p:spPr>
          <a:xfrm>
            <a:off x="11109960" y="6565392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780" dirty="0">
                <a:solidFill>
                  <a:srgbClr val="5E6E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 / 17</a:t>
            </a:r>
            <a:endParaRPr lang="en-US" sz="780" dirty="0"/>
          </a:p>
        </p:txBody>
      </p:sp>
      <p:sp>
        <p:nvSpPr>
          <p:cNvPr id="4" name="Shape 2"/>
          <p:cNvSpPr/>
          <p:nvPr/>
        </p:nvSpPr>
        <p:spPr>
          <a:xfrm>
            <a:off x="502920" y="347472"/>
            <a:ext cx="932688" cy="64008"/>
          </a:xfrm>
          <a:prstGeom prst="rect">
            <a:avLst/>
          </a:prstGeom>
          <a:solidFill>
            <a:srgbClr val="D5A11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566928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20" b="1" dirty="0">
                <a:solidFill>
                  <a:srgbClr val="D5A1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EXPLORATORY ANALYSIS</a:t>
            </a:r>
            <a:endParaRPr lang="en-US" sz="920" dirty="0"/>
          </a:p>
        </p:txBody>
      </p:sp>
      <p:sp>
        <p:nvSpPr>
          <p:cNvPr id="6" name="Text 4"/>
          <p:cNvSpPr/>
          <p:nvPr/>
        </p:nvSpPr>
        <p:spPr>
          <a:xfrm>
            <a:off x="530352" y="859536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950" b="1" dirty="0">
                <a:solidFill>
                  <a:srgbClr val="0B15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Three Regions, One Correlated Complex</a:t>
            </a:r>
            <a:endParaRPr lang="en-US" sz="2950" dirty="0"/>
          </a:p>
        </p:txBody>
      </p:sp>
      <p:sp>
        <p:nvSpPr>
          <p:cNvPr id="7" name="Text 5"/>
          <p:cNvSpPr/>
          <p:nvPr/>
        </p:nvSpPr>
        <p:spPr>
          <a:xfrm>
            <a:off x="548640" y="1472184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5E6E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SPY dominates the sample, but correlations still leave diversification room.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58368" y="1828800"/>
            <a:ext cx="5486400" cy="2944368"/>
          </a:xfrm>
          <a:prstGeom prst="roundRect">
            <a:avLst>
              <a:gd name="adj" fmla="val 2484"/>
            </a:avLst>
          </a:prstGeom>
          <a:solidFill>
            <a:srgbClr val="FFFFFF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9" name="Image 0" descr="/mnt/data/orig_pptx_unzip/ppt/media/imag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969" y="2011680"/>
            <a:ext cx="4984343" cy="246888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32688" y="488289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2E67B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CUMULATIVE PERFORMANCE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6400800" y="1828800"/>
            <a:ext cx="5120640" cy="2944368"/>
          </a:xfrm>
          <a:prstGeom prst="roundRect">
            <a:avLst>
              <a:gd name="adj" fmla="val 2484"/>
            </a:avLst>
          </a:prstGeom>
          <a:solidFill>
            <a:srgbClr val="FFFFFF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12" name="Image 1" descr="/mnt/data/orig_pptx_unzip/ppt/media/image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66935" y="1965960"/>
            <a:ext cx="2942649" cy="248716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693408" y="488289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BF45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DAILY RETURN CORRELATION</a:t>
            </a:r>
            <a:endParaRPr lang="en-US" sz="850" dirty="0"/>
          </a:p>
        </p:txBody>
      </p:sp>
      <p:sp>
        <p:nvSpPr>
          <p:cNvPr id="14" name="Text 10"/>
          <p:cNvSpPr/>
          <p:nvPr/>
        </p:nvSpPr>
        <p:spPr>
          <a:xfrm>
            <a:off x="950976" y="5193792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300" dirty="0">
                <a:solidFill>
                  <a:srgbClr val="2E67B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SPY</a:t>
            </a:r>
            <a:endParaRPr lang="en-US" sz="2300" dirty="0"/>
          </a:p>
        </p:txBody>
      </p:sp>
      <p:sp>
        <p:nvSpPr>
          <p:cNvPr id="15" name="Text 11"/>
          <p:cNvSpPr/>
          <p:nvPr/>
        </p:nvSpPr>
        <p:spPr>
          <a:xfrm>
            <a:off x="950976" y="5650992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5E6E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strongest standalone benchmark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6629400" y="5193792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300" dirty="0">
                <a:solidFill>
                  <a:srgbClr val="1487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0.71–0.79</a:t>
            </a:r>
            <a:endParaRPr lang="en-US" sz="2300" dirty="0"/>
          </a:p>
        </p:txBody>
      </p:sp>
      <p:sp>
        <p:nvSpPr>
          <p:cNvPr id="17" name="Text 13"/>
          <p:cNvSpPr/>
          <p:nvPr/>
        </p:nvSpPr>
        <p:spPr>
          <a:xfrm>
            <a:off x="6629400" y="5650992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5E6E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daily correlations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685800" y="6080760"/>
            <a:ext cx="10835640" cy="475488"/>
          </a:xfrm>
          <a:prstGeom prst="roundRect">
            <a:avLst>
              <a:gd name="adj" fmla="val 11538"/>
            </a:avLst>
          </a:prstGeom>
          <a:solidFill>
            <a:srgbClr val="07152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896112" y="6236208"/>
            <a:ext cx="10378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06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TAKEAWAY  Beating diversified benchmarks is easier here than beating the best single asset.</a:t>
            </a:r>
            <a:endParaRPr lang="en-US" sz="106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6565392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5E6E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MMF1927H · Final Group Project · 31 July 2026</a:t>
            </a:r>
            <a:endParaRPr lang="en-US" sz="780" dirty="0"/>
          </a:p>
        </p:txBody>
      </p:sp>
      <p:sp>
        <p:nvSpPr>
          <p:cNvPr id="3" name="Text 1"/>
          <p:cNvSpPr/>
          <p:nvPr/>
        </p:nvSpPr>
        <p:spPr>
          <a:xfrm>
            <a:off x="11109960" y="6565392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780" dirty="0">
                <a:solidFill>
                  <a:srgbClr val="5E6E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 / 17</a:t>
            </a:r>
            <a:endParaRPr lang="en-US" sz="780" dirty="0"/>
          </a:p>
        </p:txBody>
      </p:sp>
      <p:sp>
        <p:nvSpPr>
          <p:cNvPr id="4" name="Shape 2"/>
          <p:cNvSpPr/>
          <p:nvPr/>
        </p:nvSpPr>
        <p:spPr>
          <a:xfrm>
            <a:off x="502920" y="347472"/>
            <a:ext cx="932688" cy="64008"/>
          </a:xfrm>
          <a:prstGeom prst="rect">
            <a:avLst/>
          </a:prstGeom>
          <a:solidFill>
            <a:srgbClr val="D5A11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566928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20" b="1" dirty="0">
                <a:solidFill>
                  <a:srgbClr val="D5A1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EXPLORATORY ANALYSIS</a:t>
            </a:r>
            <a:endParaRPr lang="en-US" sz="920" dirty="0"/>
          </a:p>
        </p:txBody>
      </p:sp>
      <p:sp>
        <p:nvSpPr>
          <p:cNvPr id="6" name="Text 4"/>
          <p:cNvSpPr/>
          <p:nvPr/>
        </p:nvSpPr>
        <p:spPr>
          <a:xfrm>
            <a:off x="530352" y="859536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950" b="1" dirty="0">
                <a:solidFill>
                  <a:srgbClr val="0B15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Regimes Move — Risk Estimates Must Move Too</a:t>
            </a:r>
            <a:endParaRPr lang="en-US" sz="2950" dirty="0"/>
          </a:p>
        </p:txBody>
      </p:sp>
      <p:sp>
        <p:nvSpPr>
          <p:cNvPr id="7" name="Text 5"/>
          <p:cNvSpPr/>
          <p:nvPr/>
        </p:nvSpPr>
        <p:spPr>
          <a:xfrm>
            <a:off x="548640" y="1472184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5E6E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Volatility and cross-region correlation are strongly non-stationary.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1828800"/>
            <a:ext cx="5394960" cy="3154680"/>
          </a:xfrm>
          <a:prstGeom prst="roundRect">
            <a:avLst>
              <a:gd name="adj" fmla="val 2319"/>
            </a:avLst>
          </a:prstGeom>
          <a:solidFill>
            <a:srgbClr val="FFFFFF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9" name="Image 0" descr="/mnt/data/orig_pptx_unzip/ppt/media/image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110085"/>
            <a:ext cx="4937760" cy="2445806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6327648" y="1828800"/>
            <a:ext cx="5257800" cy="3154680"/>
          </a:xfrm>
          <a:prstGeom prst="roundRect">
            <a:avLst>
              <a:gd name="adj" fmla="val 2319"/>
            </a:avLst>
          </a:prstGeom>
          <a:solidFill>
            <a:srgbClr val="FFFFFF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11" name="Image 1" descr="/mnt/data/orig_pptx_unzip/ppt/media/image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6248" y="2144054"/>
            <a:ext cx="4800600" cy="2377867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914400" y="5193792"/>
            <a:ext cx="103327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0B15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Volatility spikes around crisis periods.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0B15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Pairwise correlations range from diversifying to nearly one.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0B15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The portfolio layer therefore re-estimates risk instead of assuming one static covariance.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685800" y="5879592"/>
            <a:ext cx="10835640" cy="475488"/>
          </a:xfrm>
          <a:prstGeom prst="roundRect">
            <a:avLst>
              <a:gd name="adj" fmla="val 11538"/>
            </a:avLst>
          </a:prstGeom>
          <a:solidFill>
            <a:srgbClr val="07152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896112" y="6035040"/>
            <a:ext cx="10378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06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TAKEAWAY  Non-stationarity is why validation must be walk-forward and risk must be re-estimated.</a:t>
            </a:r>
            <a:endParaRPr lang="en-US" sz="106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15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6565392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C8D2E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MMF1927H · Final Group Project · 31 July 2026</a:t>
            </a:r>
            <a:endParaRPr lang="en-US" sz="780" dirty="0"/>
          </a:p>
        </p:txBody>
      </p:sp>
      <p:sp>
        <p:nvSpPr>
          <p:cNvPr id="3" name="Text 1"/>
          <p:cNvSpPr/>
          <p:nvPr/>
        </p:nvSpPr>
        <p:spPr>
          <a:xfrm>
            <a:off x="11109960" y="6565392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780" dirty="0">
                <a:solidFill>
                  <a:srgbClr val="C8D2E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 / 17</a:t>
            </a:r>
            <a:endParaRPr lang="en-US" sz="780" dirty="0"/>
          </a:p>
        </p:txBody>
      </p:sp>
      <p:sp>
        <p:nvSpPr>
          <p:cNvPr id="4" name="Shape 2"/>
          <p:cNvSpPr/>
          <p:nvPr/>
        </p:nvSpPr>
        <p:spPr>
          <a:xfrm>
            <a:off x="502920" y="347472"/>
            <a:ext cx="932688" cy="64008"/>
          </a:xfrm>
          <a:prstGeom prst="rect">
            <a:avLst/>
          </a:prstGeom>
          <a:solidFill>
            <a:srgbClr val="D5A11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566928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20" b="1" dirty="0">
                <a:solidFill>
                  <a:srgbClr val="D5A1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FEATURE · DAY 3</a:t>
            </a:r>
            <a:endParaRPr lang="en-US" sz="920" dirty="0"/>
          </a:p>
        </p:txBody>
      </p:sp>
      <p:sp>
        <p:nvSpPr>
          <p:cNvPr id="6" name="Text 4"/>
          <p:cNvSpPr/>
          <p:nvPr/>
        </p:nvSpPr>
        <p:spPr>
          <a:xfrm>
            <a:off x="530352" y="859536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Core Idea: Skew as Currency Demand</a:t>
            </a:r>
            <a:endParaRPr lang="en-US" sz="2950" dirty="0"/>
          </a:p>
        </p:txBody>
      </p:sp>
      <p:sp>
        <p:nvSpPr>
          <p:cNvPr id="7" name="Text 5"/>
          <p:cNvSpPr/>
          <p:nvPr/>
        </p:nvSpPr>
        <p:spPr>
          <a:xfrm>
            <a:off x="548640" y="1472184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C9D3E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risk reversal is a price for asymmetric currency protection, not just a volatility level.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77240" y="1938528"/>
            <a:ext cx="4663440" cy="969264"/>
          </a:xfrm>
          <a:prstGeom prst="roundRect">
            <a:avLst>
              <a:gd name="adj" fmla="val 7547"/>
            </a:avLst>
          </a:prstGeom>
          <a:solidFill>
            <a:srgbClr val="143165"/>
          </a:solidFill>
          <a:ln w="12700">
            <a:solidFill>
              <a:srgbClr val="2A509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24128" y="2267712"/>
            <a:ext cx="42062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66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25Δ risk reversal  =  IV(25Δ call) − IV(25Δ put)</a:t>
            </a:r>
            <a:endParaRPr lang="en-US" sz="1660" dirty="0"/>
          </a:p>
        </p:txBody>
      </p:sp>
      <p:sp>
        <p:nvSpPr>
          <p:cNvPr id="10" name="Text 8"/>
          <p:cNvSpPr/>
          <p:nvPr/>
        </p:nvSpPr>
        <p:spPr>
          <a:xfrm>
            <a:off x="1051560" y="3127248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300" dirty="0">
                <a:solidFill>
                  <a:srgbClr val="D6E0E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Positive = market pays more for upside in the base currency.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989320" y="1883664"/>
            <a:ext cx="5349240" cy="2523744"/>
          </a:xfrm>
          <a:prstGeom prst="roundRect">
            <a:avLst>
              <a:gd name="adj" fmla="val 3509"/>
            </a:avLst>
          </a:prstGeom>
          <a:solidFill>
            <a:srgbClr val="143165"/>
          </a:solidFill>
          <a:ln w="12700">
            <a:solidFill>
              <a:srgbClr val="2A509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36792" y="216712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D5A1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Sign correction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336792" y="2587752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D8E2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ETF sees “positive” the same way: demand for its own local currency.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364224" y="3182112"/>
            <a:ext cx="5669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2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SPY</a:t>
            </a:r>
            <a:endParaRPr lang="en-US" sz="1240" dirty="0"/>
          </a:p>
        </p:txBody>
      </p:sp>
      <p:sp>
        <p:nvSpPr>
          <p:cNvPr id="15" name="Text 13"/>
          <p:cNvSpPr/>
          <p:nvPr/>
        </p:nvSpPr>
        <p:spPr>
          <a:xfrm>
            <a:off x="7543800" y="3182112"/>
            <a:ext cx="1143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DDE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EURUSD −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0" y="3182112"/>
            <a:ext cx="1143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DDE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USDJPY +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364224" y="3602736"/>
            <a:ext cx="5669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2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EZU</a:t>
            </a:r>
            <a:endParaRPr lang="en-US" sz="1240" dirty="0"/>
          </a:p>
        </p:txBody>
      </p:sp>
      <p:sp>
        <p:nvSpPr>
          <p:cNvPr id="18" name="Text 16"/>
          <p:cNvSpPr/>
          <p:nvPr/>
        </p:nvSpPr>
        <p:spPr>
          <a:xfrm>
            <a:off x="7543800" y="3602736"/>
            <a:ext cx="1143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DDE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EURUSD +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144000" y="3602736"/>
            <a:ext cx="1143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DDE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EURJPY +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364224" y="4023360"/>
            <a:ext cx="5669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2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EWJ</a:t>
            </a:r>
            <a:endParaRPr lang="en-US" sz="1240" dirty="0"/>
          </a:p>
        </p:txBody>
      </p:sp>
      <p:sp>
        <p:nvSpPr>
          <p:cNvPr id="21" name="Text 19"/>
          <p:cNvSpPr/>
          <p:nvPr/>
        </p:nvSpPr>
        <p:spPr>
          <a:xfrm>
            <a:off x="7543800" y="4023360"/>
            <a:ext cx="1143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DDE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USDJPY −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144000" y="4023360"/>
            <a:ext cx="1143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DDE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EURJPY −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85800" y="5577840"/>
            <a:ext cx="10835640" cy="475488"/>
          </a:xfrm>
          <a:prstGeom prst="roundRect">
            <a:avLst>
              <a:gd name="adj" fmla="val 11538"/>
            </a:avLst>
          </a:prstGeom>
          <a:solidFill>
            <a:srgbClr val="D5A11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96112" y="5733288"/>
            <a:ext cx="10378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060" b="1" dirty="0">
                <a:solidFill>
                  <a:srgbClr val="07152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TAKEAWAY  The signal is a relative-demand read across currencies, not a single FX spot bet.</a:t>
            </a:r>
            <a:endParaRPr lang="en-US" sz="106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6565392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5E6E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MMF1927H · Final Group Project · 31 July 2026</a:t>
            </a:r>
            <a:endParaRPr lang="en-US" sz="780" dirty="0"/>
          </a:p>
        </p:txBody>
      </p:sp>
      <p:sp>
        <p:nvSpPr>
          <p:cNvPr id="3" name="Text 1"/>
          <p:cNvSpPr/>
          <p:nvPr/>
        </p:nvSpPr>
        <p:spPr>
          <a:xfrm>
            <a:off x="11109960" y="6565392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780" dirty="0">
                <a:solidFill>
                  <a:srgbClr val="5E6E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 / 17</a:t>
            </a:r>
            <a:endParaRPr lang="en-US" sz="780" dirty="0"/>
          </a:p>
        </p:txBody>
      </p:sp>
      <p:sp>
        <p:nvSpPr>
          <p:cNvPr id="4" name="Shape 2"/>
          <p:cNvSpPr/>
          <p:nvPr/>
        </p:nvSpPr>
        <p:spPr>
          <a:xfrm>
            <a:off x="502920" y="347472"/>
            <a:ext cx="932688" cy="64008"/>
          </a:xfrm>
          <a:prstGeom prst="rect">
            <a:avLst/>
          </a:prstGeom>
          <a:solidFill>
            <a:srgbClr val="D5A11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566928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20" b="1" dirty="0">
                <a:solidFill>
                  <a:srgbClr val="D5A1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FEATURE · DAY 3</a:t>
            </a:r>
            <a:endParaRPr lang="en-US" sz="920" dirty="0"/>
          </a:p>
        </p:txBody>
      </p:sp>
      <p:sp>
        <p:nvSpPr>
          <p:cNvPr id="6" name="Text 4"/>
          <p:cNvSpPr/>
          <p:nvPr/>
        </p:nvSpPr>
        <p:spPr>
          <a:xfrm>
            <a:off x="530352" y="859536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950" b="1" dirty="0">
                <a:solidFill>
                  <a:srgbClr val="0B15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Feature Inventory — Keep the Economic Logic</a:t>
            </a:r>
            <a:endParaRPr lang="en-US" sz="2950" dirty="0"/>
          </a:p>
        </p:txBody>
      </p:sp>
      <p:sp>
        <p:nvSpPr>
          <p:cNvPr id="7" name="Text 5"/>
          <p:cNvSpPr/>
          <p:nvPr/>
        </p:nvSpPr>
        <p:spPr>
          <a:xfrm>
            <a:off x="548640" y="1472184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5E6E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 diagnosed broader feature families, then modelled a smaller defensible set.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14400" y="1947672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D5A1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MOMENTUM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2743200" y="1911096"/>
            <a:ext cx="4389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320" dirty="0">
                <a:solidFill>
                  <a:srgbClr val="0B15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20d and 60d return</a:t>
            </a:r>
            <a:endParaRPr lang="en-US" sz="1320" dirty="0"/>
          </a:p>
        </p:txBody>
      </p:sp>
      <p:sp>
        <p:nvSpPr>
          <p:cNvPr id="10" name="Text 8"/>
          <p:cNvSpPr/>
          <p:nvPr/>
        </p:nvSpPr>
        <p:spPr>
          <a:xfrm>
            <a:off x="914400" y="2542032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D5A1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TREND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2743200" y="2505456"/>
            <a:ext cx="4389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320" dirty="0">
                <a:solidFill>
                  <a:srgbClr val="0B15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price vs. 50d moving average</a:t>
            </a:r>
            <a:endParaRPr lang="en-US" sz="1320" dirty="0"/>
          </a:p>
        </p:txBody>
      </p:sp>
      <p:sp>
        <p:nvSpPr>
          <p:cNvPr id="12" name="Text 10"/>
          <p:cNvSpPr/>
          <p:nvPr/>
        </p:nvSpPr>
        <p:spPr>
          <a:xfrm>
            <a:off x="914400" y="3136392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D5A1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VOLUME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2743200" y="3099816"/>
            <a:ext cx="4389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320" dirty="0">
                <a:solidFill>
                  <a:srgbClr val="0B15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relative volume and change</a:t>
            </a:r>
            <a:endParaRPr lang="en-US" sz="1320" dirty="0"/>
          </a:p>
        </p:txBody>
      </p:sp>
      <p:sp>
        <p:nvSpPr>
          <p:cNvPr id="14" name="Text 12"/>
          <p:cNvSpPr/>
          <p:nvPr/>
        </p:nvSpPr>
        <p:spPr>
          <a:xfrm>
            <a:off x="914400" y="3730752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1487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CURRENCY DEMAND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2743200" y="3694176"/>
            <a:ext cx="4389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320" dirty="0">
                <a:solidFill>
                  <a:srgbClr val="0B15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 sign-corrected FX risk reversals</a:t>
            </a:r>
            <a:endParaRPr lang="en-US" sz="1320" dirty="0"/>
          </a:p>
        </p:txBody>
      </p:sp>
      <p:sp>
        <p:nvSpPr>
          <p:cNvPr id="16" name="Text 14"/>
          <p:cNvSpPr/>
          <p:nvPr/>
        </p:nvSpPr>
        <p:spPr>
          <a:xfrm>
            <a:off x="914400" y="4325112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BF45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VOLATILITY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2743200" y="4288536"/>
            <a:ext cx="4389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320" dirty="0">
                <a:solidFill>
                  <a:srgbClr val="0B15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VIX/V2X only; Japan vol excluded</a:t>
            </a:r>
            <a:endParaRPr lang="en-US" sz="1320" dirty="0"/>
          </a:p>
        </p:txBody>
      </p:sp>
      <p:sp>
        <p:nvSpPr>
          <p:cNvPr id="18" name="Shape 16"/>
          <p:cNvSpPr/>
          <p:nvPr/>
        </p:nvSpPr>
        <p:spPr>
          <a:xfrm>
            <a:off x="7635240" y="1828800"/>
            <a:ext cx="3429000" cy="1005840"/>
          </a:xfrm>
          <a:prstGeom prst="roundRect">
            <a:avLst>
              <a:gd name="adj" fmla="val 7273"/>
            </a:avLst>
          </a:prstGeom>
          <a:solidFill>
            <a:srgbClr val="DFF4F0"/>
          </a:solidFill>
          <a:ln w="12700">
            <a:solidFill>
              <a:srgbClr val="14877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918704" y="2057400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dirty="0">
                <a:solidFill>
                  <a:srgbClr val="1487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</a:t>
            </a:r>
            <a:endParaRPr lang="en-US" sz="2700" dirty="0"/>
          </a:p>
        </p:txBody>
      </p:sp>
      <p:sp>
        <p:nvSpPr>
          <p:cNvPr id="20" name="Text 18"/>
          <p:cNvSpPr/>
          <p:nvPr/>
        </p:nvSpPr>
        <p:spPr>
          <a:xfrm>
            <a:off x="7918704" y="251460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5E6E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SPY features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9217152" y="2057400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dirty="0">
                <a:solidFill>
                  <a:srgbClr val="1487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</a:t>
            </a:r>
            <a:endParaRPr lang="en-US" sz="2700" dirty="0"/>
          </a:p>
        </p:txBody>
      </p:sp>
      <p:sp>
        <p:nvSpPr>
          <p:cNvPr id="22" name="Text 20"/>
          <p:cNvSpPr/>
          <p:nvPr/>
        </p:nvSpPr>
        <p:spPr>
          <a:xfrm>
            <a:off x="9217152" y="251460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5E6E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EZU features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7635240" y="3154680"/>
            <a:ext cx="3429000" cy="1005840"/>
          </a:xfrm>
          <a:prstGeom prst="roundRect">
            <a:avLst>
              <a:gd name="adj" fmla="val 7273"/>
            </a:avLst>
          </a:prstGeom>
          <a:solidFill>
            <a:srgbClr val="F9DDDD"/>
          </a:solidFill>
          <a:ln w="12700">
            <a:solidFill>
              <a:srgbClr val="BF454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918704" y="3383280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dirty="0">
                <a:solidFill>
                  <a:srgbClr val="BF45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2700" dirty="0"/>
          </a:p>
        </p:txBody>
      </p:sp>
      <p:sp>
        <p:nvSpPr>
          <p:cNvPr id="25" name="Text 23"/>
          <p:cNvSpPr/>
          <p:nvPr/>
        </p:nvSpPr>
        <p:spPr>
          <a:xfrm>
            <a:off x="7918704" y="384048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5E6E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EWJ features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9189720" y="34290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BF45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Japan volatility inputs were removed rather than repaired.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7635240" y="4480560"/>
            <a:ext cx="342900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5DCE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982712" y="4736592"/>
            <a:ext cx="2743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160" b="1" dirty="0">
                <a:solidFill>
                  <a:srgbClr val="0B15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Forward target: 20 valid-session return, built by shifting price backward.</a:t>
            </a:r>
            <a:endParaRPr lang="en-US" sz="1160" dirty="0"/>
          </a:p>
        </p:txBody>
      </p:sp>
      <p:sp>
        <p:nvSpPr>
          <p:cNvPr id="29" name="Shape 27"/>
          <p:cNvSpPr/>
          <p:nvPr/>
        </p:nvSpPr>
        <p:spPr>
          <a:xfrm>
            <a:off x="685800" y="5715000"/>
            <a:ext cx="10835640" cy="475488"/>
          </a:xfrm>
          <a:prstGeom prst="roundRect">
            <a:avLst>
              <a:gd name="adj" fmla="val 11538"/>
            </a:avLst>
          </a:prstGeom>
          <a:solidFill>
            <a:srgbClr val="07152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96112" y="5870448"/>
            <a:ext cx="10378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06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TAKEAWAY  A compact feature set makes the final model easier to defend than a wider, noisier design.</a:t>
            </a:r>
            <a:endParaRPr lang="en-US" sz="106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6565392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5E6E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MMF1927H · Final Group Project · 31 July 2026</a:t>
            </a:r>
            <a:endParaRPr lang="en-US" sz="780" dirty="0"/>
          </a:p>
        </p:txBody>
      </p:sp>
      <p:sp>
        <p:nvSpPr>
          <p:cNvPr id="3" name="Text 1"/>
          <p:cNvSpPr/>
          <p:nvPr/>
        </p:nvSpPr>
        <p:spPr>
          <a:xfrm>
            <a:off x="11109960" y="6565392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780" dirty="0">
                <a:solidFill>
                  <a:srgbClr val="5E6E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 / 17</a:t>
            </a:r>
            <a:endParaRPr lang="en-US" sz="780" dirty="0"/>
          </a:p>
        </p:txBody>
      </p:sp>
      <p:sp>
        <p:nvSpPr>
          <p:cNvPr id="4" name="Shape 2"/>
          <p:cNvSpPr/>
          <p:nvPr/>
        </p:nvSpPr>
        <p:spPr>
          <a:xfrm>
            <a:off x="502920" y="347472"/>
            <a:ext cx="932688" cy="64008"/>
          </a:xfrm>
          <a:prstGeom prst="rect">
            <a:avLst/>
          </a:prstGeom>
          <a:solidFill>
            <a:srgbClr val="D5A11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566928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20" b="1" dirty="0">
                <a:solidFill>
                  <a:srgbClr val="D5A1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EXECUTION DESIGN</a:t>
            </a:r>
            <a:endParaRPr lang="en-US" sz="920" dirty="0"/>
          </a:p>
        </p:txBody>
      </p:sp>
      <p:sp>
        <p:nvSpPr>
          <p:cNvPr id="6" name="Text 4"/>
          <p:cNvSpPr/>
          <p:nvPr/>
        </p:nvSpPr>
        <p:spPr>
          <a:xfrm>
            <a:off x="530352" y="859536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950" b="1" dirty="0">
                <a:solidFill>
                  <a:srgbClr val="0B15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Tradable Target and a Real Purge</a:t>
            </a:r>
            <a:endParaRPr lang="en-US" sz="2950" dirty="0"/>
          </a:p>
        </p:txBody>
      </p:sp>
      <p:sp>
        <p:nvSpPr>
          <p:cNvPr id="7" name="Text 5"/>
          <p:cNvSpPr/>
          <p:nvPr/>
        </p:nvSpPr>
        <p:spPr>
          <a:xfrm>
            <a:off x="548640" y="1472184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5E6E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target is filled at the next valid close, not the just-observed close.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148840" y="2880360"/>
            <a:ext cx="1920240" cy="0"/>
          </a:xfrm>
          <a:prstGeom prst="line">
            <a:avLst/>
          </a:prstGeom>
          <a:noFill/>
          <a:ln w="12700">
            <a:solidFill>
              <a:srgbClr val="D5A11E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4983480" y="2880360"/>
            <a:ext cx="1920240" cy="0"/>
          </a:xfrm>
          <a:prstGeom prst="line">
            <a:avLst/>
          </a:prstGeom>
          <a:noFill/>
          <a:ln w="12700">
            <a:solidFill>
              <a:srgbClr val="D5A11E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7818120" y="2880360"/>
            <a:ext cx="1920240" cy="0"/>
          </a:xfrm>
          <a:prstGeom prst="line">
            <a:avLst/>
          </a:prstGeom>
          <a:noFill/>
          <a:ln w="12700">
            <a:solidFill>
              <a:srgbClr val="D5A11E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868680" y="2148840"/>
            <a:ext cx="1691640" cy="1417320"/>
          </a:xfrm>
          <a:prstGeom prst="roundRect">
            <a:avLst>
              <a:gd name="adj" fmla="val 5161"/>
            </a:avLst>
          </a:prstGeom>
          <a:solidFill>
            <a:srgbClr val="DFF4F0"/>
          </a:solidFill>
          <a:ln w="12700">
            <a:solidFill>
              <a:srgbClr val="14877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33272" y="251460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520" b="1" dirty="0">
                <a:solidFill>
                  <a:srgbClr val="0B15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 close</a:t>
            </a:r>
            <a:endParaRPr lang="en-US" sz="1520" dirty="0"/>
          </a:p>
        </p:txBody>
      </p:sp>
      <p:sp>
        <p:nvSpPr>
          <p:cNvPr id="13" name="Text 11"/>
          <p:cNvSpPr/>
          <p:nvPr/>
        </p:nvSpPr>
        <p:spPr>
          <a:xfrm>
            <a:off x="1033272" y="2962656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5E6E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features known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703320" y="2148840"/>
            <a:ext cx="1691640" cy="1417320"/>
          </a:xfrm>
          <a:prstGeom prst="roundRect">
            <a:avLst>
              <a:gd name="adj" fmla="val 5161"/>
            </a:avLst>
          </a:prstGeom>
          <a:solidFill>
            <a:srgbClr val="DFF4F0"/>
          </a:solidFill>
          <a:ln w="12700">
            <a:solidFill>
              <a:srgbClr val="14877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67912" y="251460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520" b="1" dirty="0">
                <a:solidFill>
                  <a:srgbClr val="0B15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 close</a:t>
            </a:r>
            <a:endParaRPr lang="en-US" sz="1520" dirty="0"/>
          </a:p>
        </p:txBody>
      </p:sp>
      <p:sp>
        <p:nvSpPr>
          <p:cNvPr id="16" name="Text 14"/>
          <p:cNvSpPr/>
          <p:nvPr/>
        </p:nvSpPr>
        <p:spPr>
          <a:xfrm>
            <a:off x="3867912" y="2962656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5E6E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weights filled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537960" y="2148840"/>
            <a:ext cx="1691640" cy="1417320"/>
          </a:xfrm>
          <a:prstGeom prst="roundRect">
            <a:avLst>
              <a:gd name="adj" fmla="val 5161"/>
            </a:avLst>
          </a:prstGeom>
          <a:solidFill>
            <a:srgbClr val="DFF4F0"/>
          </a:solidFill>
          <a:ln w="12700">
            <a:solidFill>
              <a:srgbClr val="14877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02552" y="251460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520" b="1" dirty="0">
                <a:solidFill>
                  <a:srgbClr val="0B15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+20 sessions</a:t>
            </a:r>
            <a:endParaRPr lang="en-US" sz="1520" dirty="0"/>
          </a:p>
        </p:txBody>
      </p:sp>
      <p:sp>
        <p:nvSpPr>
          <p:cNvPr id="19" name="Text 17"/>
          <p:cNvSpPr/>
          <p:nvPr/>
        </p:nvSpPr>
        <p:spPr>
          <a:xfrm>
            <a:off x="6702552" y="2962656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5E6E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return measured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9372600" y="2148840"/>
            <a:ext cx="1691640" cy="1417320"/>
          </a:xfrm>
          <a:prstGeom prst="roundRect">
            <a:avLst>
              <a:gd name="adj" fmla="val 5161"/>
            </a:avLst>
          </a:prstGeom>
          <a:solidFill>
            <a:srgbClr val="FFF0C2"/>
          </a:solidFill>
          <a:ln w="12700">
            <a:solidFill>
              <a:srgbClr val="D5A11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537192" y="251460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520" b="1" dirty="0">
                <a:solidFill>
                  <a:srgbClr val="0B15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purge</a:t>
            </a:r>
            <a:endParaRPr lang="en-US" sz="1520" dirty="0"/>
          </a:p>
        </p:txBody>
      </p:sp>
      <p:sp>
        <p:nvSpPr>
          <p:cNvPr id="22" name="Text 20"/>
          <p:cNvSpPr/>
          <p:nvPr/>
        </p:nvSpPr>
        <p:spPr>
          <a:xfrm>
            <a:off x="9537192" y="2962656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5E6E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21 sessions removed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914400" y="4160520"/>
            <a:ext cx="2834640" cy="1170432"/>
          </a:xfrm>
          <a:prstGeom prst="roundRect">
            <a:avLst>
              <a:gd name="adj" fmla="val 6250"/>
            </a:avLst>
          </a:prstGeom>
          <a:solidFill>
            <a:srgbClr val="F9DDDD"/>
          </a:solidFill>
          <a:ln w="12700">
            <a:solidFill>
              <a:srgbClr val="BF454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143000" y="438912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dirty="0">
                <a:solidFill>
                  <a:srgbClr val="BF45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21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1143000" y="4846320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5E6E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session purge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039112" y="4526280"/>
            <a:ext cx="11887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020" dirty="0">
                <a:solidFill>
                  <a:srgbClr val="BF45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prevents overlapping train/test labels</a:t>
            </a:r>
            <a:endParaRPr lang="en-US" sz="1020" dirty="0"/>
          </a:p>
        </p:txBody>
      </p:sp>
      <p:sp>
        <p:nvSpPr>
          <p:cNvPr id="27" name="Shape 25"/>
          <p:cNvSpPr/>
          <p:nvPr/>
        </p:nvSpPr>
        <p:spPr>
          <a:xfrm>
            <a:off x="4617720" y="4160520"/>
            <a:ext cx="2834640" cy="1170432"/>
          </a:xfrm>
          <a:prstGeom prst="roundRect">
            <a:avLst>
              <a:gd name="adj" fmla="val 6250"/>
            </a:avLst>
          </a:prstGeom>
          <a:solidFill>
            <a:srgbClr val="DFF4F0"/>
          </a:solidFill>
          <a:ln w="12700">
            <a:solidFill>
              <a:srgbClr val="14877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846320" y="438912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dirty="0">
                <a:solidFill>
                  <a:srgbClr val="1487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4846320" y="4846320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5E6E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walk-forward folds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760720" y="4526280"/>
            <a:ext cx="10972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020" dirty="0">
                <a:solidFill>
                  <a:srgbClr val="1487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expanding-window validation</a:t>
            </a:r>
            <a:endParaRPr lang="en-US" sz="1020" dirty="0"/>
          </a:p>
        </p:txBody>
      </p:sp>
      <p:sp>
        <p:nvSpPr>
          <p:cNvPr id="31" name="Shape 29"/>
          <p:cNvSpPr/>
          <p:nvPr/>
        </p:nvSpPr>
        <p:spPr>
          <a:xfrm>
            <a:off x="8321040" y="4160520"/>
            <a:ext cx="2834640" cy="1170432"/>
          </a:xfrm>
          <a:prstGeom prst="roundRect">
            <a:avLst>
              <a:gd name="adj" fmla="val 6250"/>
            </a:avLst>
          </a:prstGeom>
          <a:solidFill>
            <a:srgbClr val="FFF0C2"/>
          </a:solidFill>
          <a:ln w="12700">
            <a:solidFill>
              <a:srgbClr val="D5A11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49640" y="438912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dirty="0">
                <a:solidFill>
                  <a:srgbClr val="D5A1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2400" dirty="0"/>
          </a:p>
        </p:txBody>
      </p:sp>
      <p:sp>
        <p:nvSpPr>
          <p:cNvPr id="33" name="Text 31"/>
          <p:cNvSpPr/>
          <p:nvPr/>
        </p:nvSpPr>
        <p:spPr>
          <a:xfrm>
            <a:off x="8549640" y="4846320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5E6E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assets with clean risk inputs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9464040" y="4507992"/>
            <a:ext cx="11887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0B15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SPY/EZU plus FX pairs and prices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85800" y="5532120"/>
            <a:ext cx="10835640" cy="475488"/>
          </a:xfrm>
          <a:prstGeom prst="roundRect">
            <a:avLst>
              <a:gd name="adj" fmla="val 11538"/>
            </a:avLst>
          </a:prstGeom>
          <a:solidFill>
            <a:srgbClr val="07152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96112" y="5687568"/>
            <a:ext cx="10378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06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TAKEAWAY  The purge is the detail to defend: a 20-session target leaks unless the boundary is cleared.</a:t>
            </a:r>
            <a:endParaRPr lang="en-US" sz="106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6565392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5E6E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MMF1927H · Final Group Project · 31 July 2026</a:t>
            </a:r>
            <a:endParaRPr lang="en-US" sz="780" dirty="0"/>
          </a:p>
        </p:txBody>
      </p:sp>
      <p:sp>
        <p:nvSpPr>
          <p:cNvPr id="3" name="Text 1"/>
          <p:cNvSpPr/>
          <p:nvPr/>
        </p:nvSpPr>
        <p:spPr>
          <a:xfrm>
            <a:off x="11109960" y="6565392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780" dirty="0">
                <a:solidFill>
                  <a:srgbClr val="5E6E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 / 17</a:t>
            </a:r>
            <a:endParaRPr lang="en-US" sz="780" dirty="0"/>
          </a:p>
        </p:txBody>
      </p:sp>
      <p:sp>
        <p:nvSpPr>
          <p:cNvPr id="4" name="Shape 2"/>
          <p:cNvSpPr/>
          <p:nvPr/>
        </p:nvSpPr>
        <p:spPr>
          <a:xfrm>
            <a:off x="502920" y="347472"/>
            <a:ext cx="932688" cy="64008"/>
          </a:xfrm>
          <a:prstGeom prst="rect">
            <a:avLst/>
          </a:prstGeom>
          <a:solidFill>
            <a:srgbClr val="D5A11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566928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20" b="1" dirty="0">
                <a:solidFill>
                  <a:srgbClr val="D5A1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· DAY 4</a:t>
            </a:r>
            <a:endParaRPr lang="en-US" sz="920" dirty="0"/>
          </a:p>
        </p:txBody>
      </p:sp>
      <p:sp>
        <p:nvSpPr>
          <p:cNvPr id="6" name="Text 4"/>
          <p:cNvSpPr/>
          <p:nvPr/>
        </p:nvSpPr>
        <p:spPr>
          <a:xfrm>
            <a:off x="530352" y="859536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950" b="1" dirty="0">
                <a:solidFill>
                  <a:srgbClr val="0B15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Regularized Linear Model per Region</a:t>
            </a:r>
            <a:endParaRPr lang="en-US" sz="2950" dirty="0"/>
          </a:p>
        </p:txBody>
      </p:sp>
      <p:sp>
        <p:nvSpPr>
          <p:cNvPr id="7" name="Text 5"/>
          <p:cNvSpPr/>
          <p:nvPr/>
        </p:nvSpPr>
        <p:spPr>
          <a:xfrm>
            <a:off x="548640" y="1472184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5E6E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Ridge regression deliberately shrinks noisy coefficients rather than fitting a flexible black box.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651760" y="2743200"/>
            <a:ext cx="868680" cy="0"/>
          </a:xfrm>
          <a:prstGeom prst="line">
            <a:avLst/>
          </a:prstGeom>
          <a:noFill/>
          <a:ln w="12700">
            <a:solidFill>
              <a:srgbClr val="D5A11E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5486400" y="2743200"/>
            <a:ext cx="868680" cy="0"/>
          </a:xfrm>
          <a:prstGeom prst="line">
            <a:avLst/>
          </a:prstGeom>
          <a:noFill/>
          <a:ln w="12700">
            <a:solidFill>
              <a:srgbClr val="D5A11E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8321040" y="2743200"/>
            <a:ext cx="868680" cy="0"/>
          </a:xfrm>
          <a:prstGeom prst="line">
            <a:avLst/>
          </a:prstGeom>
          <a:noFill/>
          <a:ln w="12700">
            <a:solidFill>
              <a:srgbClr val="D5A11E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685800" y="2148840"/>
            <a:ext cx="196596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D5DCE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2404872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B15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Standardize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50392" y="2843784"/>
            <a:ext cx="16367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070" dirty="0">
                <a:solidFill>
                  <a:srgbClr val="5E6E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fit scaler inside fold</a:t>
            </a:r>
            <a:endParaRPr lang="en-US" sz="1070" dirty="0"/>
          </a:p>
        </p:txBody>
      </p:sp>
      <p:sp>
        <p:nvSpPr>
          <p:cNvPr id="14" name="Shape 12"/>
          <p:cNvSpPr/>
          <p:nvPr/>
        </p:nvSpPr>
        <p:spPr>
          <a:xfrm>
            <a:off x="3520440" y="2148840"/>
            <a:ext cx="1965960" cy="1188720"/>
          </a:xfrm>
          <a:prstGeom prst="roundRect">
            <a:avLst>
              <a:gd name="adj" fmla="val 6154"/>
            </a:avLst>
          </a:prstGeom>
          <a:solidFill>
            <a:srgbClr val="DDEBFF"/>
          </a:solidFill>
          <a:ln w="12700">
            <a:solidFill>
              <a:srgbClr val="2E67B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0" y="2404872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B15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Ridge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685032" y="2843784"/>
            <a:ext cx="16367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070" dirty="0">
                <a:solidFill>
                  <a:srgbClr val="5E6E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40 alphas; time-series CV</a:t>
            </a:r>
            <a:endParaRPr lang="en-US" sz="1070" dirty="0"/>
          </a:p>
        </p:txBody>
      </p:sp>
      <p:sp>
        <p:nvSpPr>
          <p:cNvPr id="17" name="Shape 15"/>
          <p:cNvSpPr/>
          <p:nvPr/>
        </p:nvSpPr>
        <p:spPr>
          <a:xfrm>
            <a:off x="6355080" y="2148840"/>
            <a:ext cx="196596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D5DCE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92240" y="2404872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B15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519672" y="2843784"/>
            <a:ext cx="16367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070" dirty="0">
                <a:solidFill>
                  <a:srgbClr val="5E6E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20-session return</a:t>
            </a:r>
            <a:endParaRPr lang="en-US" sz="1070" dirty="0"/>
          </a:p>
        </p:txBody>
      </p:sp>
      <p:sp>
        <p:nvSpPr>
          <p:cNvPr id="20" name="Shape 18"/>
          <p:cNvSpPr/>
          <p:nvPr/>
        </p:nvSpPr>
        <p:spPr>
          <a:xfrm>
            <a:off x="9189720" y="2148840"/>
            <a:ext cx="196596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D5DCE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326880" y="2404872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B15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Rank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9354312" y="2843784"/>
            <a:ext cx="16367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070" dirty="0">
                <a:solidFill>
                  <a:srgbClr val="5E6E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cross-region signal</a:t>
            </a:r>
            <a:endParaRPr lang="en-US" sz="1070" dirty="0"/>
          </a:p>
        </p:txBody>
      </p:sp>
      <p:sp>
        <p:nvSpPr>
          <p:cNvPr id="23" name="Shape 21"/>
          <p:cNvSpPr/>
          <p:nvPr/>
        </p:nvSpPr>
        <p:spPr>
          <a:xfrm>
            <a:off x="822960" y="4005072"/>
            <a:ext cx="4892040" cy="1005840"/>
          </a:xfrm>
          <a:prstGeom prst="roundRect">
            <a:avLst>
              <a:gd name="adj" fmla="val 7273"/>
            </a:avLst>
          </a:prstGeom>
          <a:solidFill>
            <a:srgbClr val="DFF4F0"/>
          </a:solidFill>
          <a:ln w="12700">
            <a:solidFill>
              <a:srgbClr val="14877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143000" y="431596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487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Ridge?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2542032" y="4270248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220" dirty="0">
                <a:solidFill>
                  <a:srgbClr val="0B15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~3k rows, collinear features, low signal-to-noise, and coefficients we can explain.</a:t>
            </a:r>
            <a:endParaRPr lang="en-US" sz="1220" dirty="0"/>
          </a:p>
        </p:txBody>
      </p:sp>
      <p:sp>
        <p:nvSpPr>
          <p:cNvPr id="26" name="Shape 24"/>
          <p:cNvSpPr/>
          <p:nvPr/>
        </p:nvSpPr>
        <p:spPr>
          <a:xfrm>
            <a:off x="6309360" y="4005072"/>
            <a:ext cx="4892040" cy="1005840"/>
          </a:xfrm>
          <a:prstGeom prst="roundRect">
            <a:avLst>
              <a:gd name="adj" fmla="val 7273"/>
            </a:avLst>
          </a:prstGeom>
          <a:solidFill>
            <a:srgbClr val="07152F"/>
          </a:solidFill>
          <a:ln w="12700">
            <a:solidFill>
              <a:srgbClr val="07152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629400" y="4270248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D5A1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Leakage controls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8549640" y="4224528"/>
            <a:ext cx="22677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2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Scaler, alpha search, and coefficients refit inside every fold. Nothing is fit once on the full sample.</a:t>
            </a:r>
            <a:endParaRPr lang="en-US" sz="1120" dirty="0"/>
          </a:p>
        </p:txBody>
      </p:sp>
      <p:sp>
        <p:nvSpPr>
          <p:cNvPr id="29" name="Shape 27"/>
          <p:cNvSpPr/>
          <p:nvPr/>
        </p:nvSpPr>
        <p:spPr>
          <a:xfrm>
            <a:off x="685800" y="5623560"/>
            <a:ext cx="10835640" cy="475488"/>
          </a:xfrm>
          <a:prstGeom prst="roundRect">
            <a:avLst>
              <a:gd name="adj" fmla="val 11538"/>
            </a:avLst>
          </a:prstGeom>
          <a:solidFill>
            <a:srgbClr val="07152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96112" y="5779008"/>
            <a:ext cx="10378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06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TAKEAWAY  The model is intentionally humble: regularization is a guardrail, not a performance trick.</a:t>
            </a:r>
            <a:endParaRPr lang="en-US" sz="106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6565392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5E6E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MMF1927H · Final Group Project · 31 July 2026</a:t>
            </a:r>
            <a:endParaRPr lang="en-US" sz="780" dirty="0"/>
          </a:p>
        </p:txBody>
      </p:sp>
      <p:sp>
        <p:nvSpPr>
          <p:cNvPr id="3" name="Text 1"/>
          <p:cNvSpPr/>
          <p:nvPr/>
        </p:nvSpPr>
        <p:spPr>
          <a:xfrm>
            <a:off x="11109960" y="6565392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780" dirty="0">
                <a:solidFill>
                  <a:srgbClr val="5E6E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 / 17</a:t>
            </a:r>
            <a:endParaRPr lang="en-US" sz="780" dirty="0"/>
          </a:p>
        </p:txBody>
      </p:sp>
      <p:sp>
        <p:nvSpPr>
          <p:cNvPr id="4" name="Shape 2"/>
          <p:cNvSpPr/>
          <p:nvPr/>
        </p:nvSpPr>
        <p:spPr>
          <a:xfrm>
            <a:off x="502920" y="347472"/>
            <a:ext cx="932688" cy="64008"/>
          </a:xfrm>
          <a:prstGeom prst="rect">
            <a:avLst/>
          </a:prstGeom>
          <a:solidFill>
            <a:srgbClr val="D5A11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566928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20" b="1" dirty="0">
                <a:solidFill>
                  <a:srgbClr val="D5A1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OUT-OF-SAMPLE EVIDENCE</a:t>
            </a:r>
            <a:endParaRPr lang="en-US" sz="920" dirty="0"/>
          </a:p>
        </p:txBody>
      </p:sp>
      <p:sp>
        <p:nvSpPr>
          <p:cNvPr id="6" name="Text 4"/>
          <p:cNvSpPr/>
          <p:nvPr/>
        </p:nvSpPr>
        <p:spPr>
          <a:xfrm>
            <a:off x="530352" y="859536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950" b="1" dirty="0">
                <a:solidFill>
                  <a:srgbClr val="0B15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Walk-Forward Rank Information Coefficient</a:t>
            </a:r>
            <a:endParaRPr lang="en-US" sz="2950" dirty="0"/>
          </a:p>
        </p:txBody>
      </p:sp>
      <p:sp>
        <p:nvSpPr>
          <p:cNvPr id="7" name="Text 5"/>
          <p:cNvSpPr/>
          <p:nvPr/>
        </p:nvSpPr>
        <p:spPr>
          <a:xfrm>
            <a:off x="548640" y="1472184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5E6E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Spearman rank correlation between predicted and realized 20-session returns.</a:t>
            </a:r>
            <a:endParaRPr lang="en-US" sz="1300" dirty="0"/>
          </a:p>
        </p:txBody>
      </p:sp>
      <p:graphicFrame>
        <p:nvGraphicFramePr>
          <p:cNvPr id="8" name="Chart 0"/>
          <p:cNvGraphicFramePr/>
          <p:nvPr/>
        </p:nvGraphicFramePr>
        <p:xfrm>
          <a:off x="777240" y="1828800"/>
          <a:ext cx="6309360" cy="3337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Shape 6"/>
          <p:cNvSpPr/>
          <p:nvPr/>
        </p:nvSpPr>
        <p:spPr>
          <a:xfrm>
            <a:off x="7543800" y="1828800"/>
            <a:ext cx="3474720" cy="987552"/>
          </a:xfrm>
          <a:prstGeom prst="roundRect">
            <a:avLst>
              <a:gd name="adj" fmla="val 7407"/>
            </a:avLst>
          </a:prstGeom>
          <a:solidFill>
            <a:srgbClr val="DFF4F0"/>
          </a:solidFill>
          <a:ln w="12700">
            <a:solidFill>
              <a:srgbClr val="14877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845552" y="2048256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dirty="0">
                <a:solidFill>
                  <a:srgbClr val="1487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14/15</a:t>
            </a:r>
            <a:endParaRPr lang="en-US" sz="2500" dirty="0"/>
          </a:p>
        </p:txBody>
      </p:sp>
      <p:sp>
        <p:nvSpPr>
          <p:cNvPr id="11" name="Text 8"/>
          <p:cNvSpPr/>
          <p:nvPr/>
        </p:nvSpPr>
        <p:spPr>
          <a:xfrm>
            <a:off x="7845552" y="2505456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5E6E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positive fold-region pairs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8942832" y="2212848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080" dirty="0">
                <a:solidFill>
                  <a:srgbClr val="1487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Good breadth, but not stable enough to oversell.</a:t>
            </a:r>
            <a:endParaRPr lang="en-US" sz="1080" dirty="0"/>
          </a:p>
        </p:txBody>
      </p:sp>
      <p:sp>
        <p:nvSpPr>
          <p:cNvPr id="13" name="Shape 10"/>
          <p:cNvSpPr/>
          <p:nvPr/>
        </p:nvSpPr>
        <p:spPr>
          <a:xfrm>
            <a:off x="7543800" y="3136392"/>
            <a:ext cx="3474720" cy="987552"/>
          </a:xfrm>
          <a:prstGeom prst="roundRect">
            <a:avLst>
              <a:gd name="adj" fmla="val 7407"/>
            </a:avLst>
          </a:prstGeom>
          <a:solidFill>
            <a:srgbClr val="FFF0C2"/>
          </a:solidFill>
          <a:ln w="12700">
            <a:solidFill>
              <a:srgbClr val="D5A11E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845552" y="3355848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dirty="0">
                <a:solidFill>
                  <a:srgbClr val="D5A1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COVID</a:t>
            </a:r>
            <a:endParaRPr lang="en-US" sz="2400" dirty="0"/>
          </a:p>
        </p:txBody>
      </p:sp>
      <p:sp>
        <p:nvSpPr>
          <p:cNvPr id="15" name="Text 12"/>
          <p:cNvSpPr/>
          <p:nvPr/>
        </p:nvSpPr>
        <p:spPr>
          <a:xfrm>
            <a:off x="7845552" y="3813048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5E6E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strongest fold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8942832" y="3538728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080" dirty="0">
                <a:solidFill>
                  <a:srgbClr val="0B15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May be partly a crisis-beta proxy.</a:t>
            </a:r>
            <a:endParaRPr lang="en-US" sz="1080" dirty="0"/>
          </a:p>
        </p:txBody>
      </p:sp>
      <p:sp>
        <p:nvSpPr>
          <p:cNvPr id="17" name="Shape 14"/>
          <p:cNvSpPr/>
          <p:nvPr/>
        </p:nvSpPr>
        <p:spPr>
          <a:xfrm>
            <a:off x="7543800" y="4443984"/>
            <a:ext cx="3474720" cy="749808"/>
          </a:xfrm>
          <a:prstGeom prst="roundRect">
            <a:avLst>
              <a:gd name="adj" fmla="val 9756"/>
            </a:avLst>
          </a:prstGeom>
          <a:solidFill>
            <a:srgbClr val="F9DDDD"/>
          </a:solidFill>
          <a:ln w="12700">
            <a:solidFill>
              <a:srgbClr val="BF4545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63840" y="4718304"/>
            <a:ext cx="2834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120" b="1" dirty="0">
                <a:solidFill>
                  <a:srgbClr val="BF45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EWJ is weakest; this matters because it remains a large portfolio tilt later.</a:t>
            </a:r>
            <a:endParaRPr lang="en-US" sz="1120" dirty="0"/>
          </a:p>
        </p:txBody>
      </p:sp>
      <p:sp>
        <p:nvSpPr>
          <p:cNvPr id="19" name="Shape 16"/>
          <p:cNvSpPr/>
          <p:nvPr/>
        </p:nvSpPr>
        <p:spPr>
          <a:xfrm>
            <a:off x="685800" y="5760720"/>
            <a:ext cx="10835640" cy="475488"/>
          </a:xfrm>
          <a:prstGeom prst="roundRect">
            <a:avLst>
              <a:gd name="adj" fmla="val 11538"/>
            </a:avLst>
          </a:prstGeom>
          <a:solidFill>
            <a:srgbClr val="07152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96112" y="5916168"/>
            <a:ext cx="10378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06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TAKEAWAY  The signal is positive on average, but regime dispersion is as important as the mean.</a:t>
            </a:r>
            <a:endParaRPr lang="en-US" sz="106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6565392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5E6E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MMF1927H · Final Group Project · 31 July 2026</a:t>
            </a:r>
            <a:endParaRPr lang="en-US" sz="780" dirty="0"/>
          </a:p>
        </p:txBody>
      </p:sp>
      <p:sp>
        <p:nvSpPr>
          <p:cNvPr id="3" name="Text 1"/>
          <p:cNvSpPr/>
          <p:nvPr/>
        </p:nvSpPr>
        <p:spPr>
          <a:xfrm>
            <a:off x="11109960" y="6565392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780" dirty="0">
                <a:solidFill>
                  <a:srgbClr val="5E6E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 / 17</a:t>
            </a:r>
            <a:endParaRPr lang="en-US" sz="780" dirty="0"/>
          </a:p>
        </p:txBody>
      </p:sp>
      <p:sp>
        <p:nvSpPr>
          <p:cNvPr id="4" name="Shape 2"/>
          <p:cNvSpPr/>
          <p:nvPr/>
        </p:nvSpPr>
        <p:spPr>
          <a:xfrm>
            <a:off x="502920" y="347472"/>
            <a:ext cx="932688" cy="64008"/>
          </a:xfrm>
          <a:prstGeom prst="rect">
            <a:avLst/>
          </a:prstGeom>
          <a:solidFill>
            <a:srgbClr val="D5A11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566928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20" b="1" dirty="0">
                <a:solidFill>
                  <a:srgbClr val="D5A1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PORTFOLIO CONSTRUCTION</a:t>
            </a:r>
            <a:endParaRPr lang="en-US" sz="920" dirty="0"/>
          </a:p>
        </p:txBody>
      </p:sp>
      <p:sp>
        <p:nvSpPr>
          <p:cNvPr id="6" name="Text 4"/>
          <p:cNvSpPr/>
          <p:nvPr/>
        </p:nvSpPr>
        <p:spPr>
          <a:xfrm>
            <a:off x="530352" y="859536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950" b="1" dirty="0">
                <a:solidFill>
                  <a:srgbClr val="0B15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From Three Predictions to One Portfolio</a:t>
            </a:r>
            <a:endParaRPr lang="en-US" sz="2950" dirty="0"/>
          </a:p>
        </p:txBody>
      </p:sp>
      <p:sp>
        <p:nvSpPr>
          <p:cNvPr id="7" name="Text 5"/>
          <p:cNvSpPr/>
          <p:nvPr/>
        </p:nvSpPr>
        <p:spPr>
          <a:xfrm>
            <a:off x="548640" y="1472184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5E6E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Predicted returns are noisy, so the corrected rule uses ranks and risk scaling.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743200" y="2880360"/>
            <a:ext cx="777240" cy="0"/>
          </a:xfrm>
          <a:prstGeom prst="line">
            <a:avLst/>
          </a:prstGeom>
          <a:noFill/>
          <a:ln w="12700">
            <a:solidFill>
              <a:srgbClr val="D5A11E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5440680" y="2880360"/>
            <a:ext cx="777240" cy="0"/>
          </a:xfrm>
          <a:prstGeom prst="line">
            <a:avLst/>
          </a:prstGeom>
          <a:noFill/>
          <a:ln w="12700">
            <a:solidFill>
              <a:srgbClr val="D5A11E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8138160" y="2880360"/>
            <a:ext cx="777240" cy="0"/>
          </a:xfrm>
          <a:prstGeom prst="line">
            <a:avLst/>
          </a:prstGeom>
          <a:noFill/>
          <a:ln w="12700">
            <a:solidFill>
              <a:srgbClr val="D5A11E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777240" y="2057400"/>
            <a:ext cx="196596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D5DCE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23544" y="2331720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100" dirty="0">
                <a:solidFill>
                  <a:srgbClr val="D5A1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1280160" y="2359152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360" b="1" dirty="0">
                <a:solidFill>
                  <a:srgbClr val="0B15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Forecast ranks</a:t>
            </a:r>
            <a:endParaRPr lang="en-US" sz="1360" dirty="0"/>
          </a:p>
        </p:txBody>
      </p:sp>
      <p:sp>
        <p:nvSpPr>
          <p:cNvPr id="14" name="Text 12"/>
          <p:cNvSpPr/>
          <p:nvPr/>
        </p:nvSpPr>
        <p:spPr>
          <a:xfrm>
            <a:off x="978408" y="294436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080" dirty="0">
                <a:solidFill>
                  <a:srgbClr val="5E6E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ordering, not noisy magnitude.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3474720" y="2057400"/>
            <a:ext cx="196596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D5DCE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21024" y="2331720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100" dirty="0">
                <a:solidFill>
                  <a:srgbClr val="D5A1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3977640" y="2359152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360" b="1" dirty="0">
                <a:solidFill>
                  <a:srgbClr val="0B15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Top two</a:t>
            </a:r>
            <a:endParaRPr lang="en-US" sz="1360" dirty="0"/>
          </a:p>
        </p:txBody>
      </p:sp>
      <p:sp>
        <p:nvSpPr>
          <p:cNvPr id="18" name="Text 16"/>
          <p:cNvSpPr/>
          <p:nvPr/>
        </p:nvSpPr>
        <p:spPr>
          <a:xfrm>
            <a:off x="3675888" y="294436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080" dirty="0">
                <a:solidFill>
                  <a:srgbClr val="5E6E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Hold highest-ranked ETFs 50/50.</a:t>
            </a:r>
            <a:endParaRPr lang="en-US" sz="1080" dirty="0"/>
          </a:p>
        </p:txBody>
      </p:sp>
      <p:sp>
        <p:nvSpPr>
          <p:cNvPr id="19" name="Shape 17"/>
          <p:cNvSpPr/>
          <p:nvPr/>
        </p:nvSpPr>
        <p:spPr>
          <a:xfrm>
            <a:off x="6172200" y="2057400"/>
            <a:ext cx="1965960" cy="1600200"/>
          </a:xfrm>
          <a:prstGeom prst="roundRect">
            <a:avLst>
              <a:gd name="adj" fmla="val 4571"/>
            </a:avLst>
          </a:prstGeom>
          <a:solidFill>
            <a:srgbClr val="DFF4F0"/>
          </a:solidFill>
          <a:ln w="12700">
            <a:solidFill>
              <a:srgbClr val="14877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18504" y="2331720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100" dirty="0">
                <a:solidFill>
                  <a:srgbClr val="1487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6675120" y="2359152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360" b="1" dirty="0">
                <a:solidFill>
                  <a:srgbClr val="0B15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Risk scale</a:t>
            </a:r>
            <a:endParaRPr lang="en-US" sz="1360" dirty="0"/>
          </a:p>
        </p:txBody>
      </p:sp>
      <p:sp>
        <p:nvSpPr>
          <p:cNvPr id="22" name="Text 20"/>
          <p:cNvSpPr/>
          <p:nvPr/>
        </p:nvSpPr>
        <p:spPr>
          <a:xfrm>
            <a:off x="6373368" y="294436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080" dirty="0">
                <a:solidFill>
                  <a:srgbClr val="5E6E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 12% annual volatility.</a:t>
            </a:r>
            <a:endParaRPr lang="en-US" sz="1080" dirty="0"/>
          </a:p>
        </p:txBody>
      </p:sp>
      <p:sp>
        <p:nvSpPr>
          <p:cNvPr id="23" name="Shape 21"/>
          <p:cNvSpPr/>
          <p:nvPr/>
        </p:nvSpPr>
        <p:spPr>
          <a:xfrm>
            <a:off x="8869680" y="2057400"/>
            <a:ext cx="1965960" cy="1600200"/>
          </a:xfrm>
          <a:prstGeom prst="roundRect">
            <a:avLst>
              <a:gd name="adj" fmla="val 4571"/>
            </a:avLst>
          </a:prstGeom>
          <a:solidFill>
            <a:srgbClr val="FFF0C2"/>
          </a:solidFill>
          <a:ln w="12700">
            <a:solidFill>
              <a:srgbClr val="D5A11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015984" y="2331720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100" dirty="0">
                <a:solidFill>
                  <a:srgbClr val="D5A1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9372600" y="2359152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360" b="1" dirty="0">
                <a:solidFill>
                  <a:srgbClr val="0B15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Cash sleeve</a:t>
            </a:r>
            <a:endParaRPr lang="en-US" sz="1360" dirty="0"/>
          </a:p>
        </p:txBody>
      </p:sp>
      <p:sp>
        <p:nvSpPr>
          <p:cNvPr id="26" name="Text 24"/>
          <p:cNvSpPr/>
          <p:nvPr/>
        </p:nvSpPr>
        <p:spPr>
          <a:xfrm>
            <a:off x="9070848" y="294436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080" dirty="0">
                <a:solidFill>
                  <a:srgbClr val="5E6E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Uninvested capital earns 0%.</a:t>
            </a:r>
            <a:endParaRPr lang="en-US" sz="1080" dirty="0"/>
          </a:p>
        </p:txBody>
      </p:sp>
      <p:sp>
        <p:nvSpPr>
          <p:cNvPr id="27" name="Text 25"/>
          <p:cNvSpPr/>
          <p:nvPr/>
        </p:nvSpPr>
        <p:spPr>
          <a:xfrm>
            <a:off x="955879" y="5385816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dirty="0">
                <a:solidFill>
                  <a:srgbClr val="2E67B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955879" y="5843016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5E6E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session rebalance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3561919" y="5385816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dirty="0">
                <a:solidFill>
                  <a:srgbClr val="BF45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 bps</a:t>
            </a:r>
            <a:endParaRPr lang="en-US" sz="2400" dirty="0"/>
          </a:p>
        </p:txBody>
      </p:sp>
      <p:sp>
        <p:nvSpPr>
          <p:cNvPr id="30" name="Text 28"/>
          <p:cNvSpPr/>
          <p:nvPr/>
        </p:nvSpPr>
        <p:spPr>
          <a:xfrm>
            <a:off x="3561919" y="5843016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5E6E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 per ETF side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122239" y="5385816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dirty="0">
                <a:solidFill>
                  <a:srgbClr val="1487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20%</a:t>
            </a:r>
            <a:endParaRPr lang="en-US" sz="2400" dirty="0"/>
          </a:p>
        </p:txBody>
      </p:sp>
      <p:sp>
        <p:nvSpPr>
          <p:cNvPr id="32" name="Text 30"/>
          <p:cNvSpPr/>
          <p:nvPr/>
        </p:nvSpPr>
        <p:spPr>
          <a:xfrm>
            <a:off x="6122239" y="5843016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5E6E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risk shrinkage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8682559" y="5385816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dirty="0">
                <a:solidFill>
                  <a:srgbClr val="D5A1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17.7%</a:t>
            </a:r>
            <a:endParaRPr lang="en-US" sz="2400" dirty="0"/>
          </a:p>
        </p:txBody>
      </p:sp>
      <p:sp>
        <p:nvSpPr>
          <p:cNvPr id="34" name="Text 32"/>
          <p:cNvSpPr/>
          <p:nvPr/>
        </p:nvSpPr>
        <p:spPr>
          <a:xfrm>
            <a:off x="8682559" y="5843016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5E6E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average cash</a:t>
            </a:r>
            <a:endParaRPr lang="en-US" sz="1050" dirty="0"/>
          </a:p>
        </p:txBody>
      </p:sp>
      <p:graphicFrame>
        <p:nvGraphicFramePr>
          <p:cNvPr id="40" name="Table 3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81034163"/>
              </p:ext>
            </p:extLst>
          </p:nvPr>
        </p:nvGraphicFramePr>
        <p:xfrm>
          <a:off x="1812916" y="3753630"/>
          <a:ext cx="5289568" cy="14813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24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2262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3444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329">
                <a:tc>
                  <a:txBody>
                    <a:bodyPr/>
                    <a:lstStyle/>
                    <a:p>
                      <a:pPr algn="ctr"/>
                      <a:r>
                        <a:rPr sz="819" b="1" dirty="0">
                          <a:solidFill>
                            <a:srgbClr val="0B1526"/>
                          </a:solidFill>
                          <a:latin typeface="Aptos"/>
                        </a:rPr>
                        <a:t>ETF</a:t>
                      </a:r>
                    </a:p>
                  </a:txBody>
                  <a:tcPr marL="36576" marR="36576" marT="9144" marB="9144" anchor="ctr">
                    <a:solidFill>
                      <a:srgbClr val="EFF4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19" b="1" dirty="0">
                          <a:solidFill>
                            <a:srgbClr val="0B1526"/>
                          </a:solidFill>
                          <a:latin typeface="Aptos"/>
                        </a:rPr>
                        <a:t>Train R²</a:t>
                      </a:r>
                    </a:p>
                  </a:txBody>
                  <a:tcPr marL="36576" marR="36576" marT="9144" marB="9144" anchor="ctr">
                    <a:solidFill>
                      <a:srgbClr val="EFF4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19" b="1">
                          <a:solidFill>
                            <a:srgbClr val="0B1526"/>
                          </a:solidFill>
                          <a:latin typeface="Aptos"/>
                        </a:rPr>
                        <a:t>Test R²</a:t>
                      </a:r>
                    </a:p>
                  </a:txBody>
                  <a:tcPr marL="36576" marR="36576" marT="9144" marB="9144" anchor="ctr">
                    <a:solidFill>
                      <a:srgbClr val="EFF4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329">
                <a:tc>
                  <a:txBody>
                    <a:bodyPr/>
                    <a:lstStyle/>
                    <a:p>
                      <a:pPr algn="ctr"/>
                      <a:r>
                        <a:rPr sz="819" b="1">
                          <a:solidFill>
                            <a:srgbClr val="0B1526"/>
                          </a:solidFill>
                          <a:latin typeface="Aptos"/>
                        </a:rPr>
                        <a:t>SPY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19" b="0">
                          <a:solidFill>
                            <a:srgbClr val="5E6E83"/>
                          </a:solidFill>
                          <a:latin typeface="Aptos"/>
                        </a:rPr>
                        <a:t>0.076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19" b="0">
                          <a:solidFill>
                            <a:srgbClr val="5E6E83"/>
                          </a:solidFill>
                          <a:latin typeface="Aptos"/>
                        </a:rPr>
                        <a:t>0.021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329">
                <a:tc>
                  <a:txBody>
                    <a:bodyPr/>
                    <a:lstStyle/>
                    <a:p>
                      <a:pPr algn="ctr"/>
                      <a:r>
                        <a:rPr sz="819" b="1">
                          <a:solidFill>
                            <a:srgbClr val="0B1526"/>
                          </a:solidFill>
                          <a:latin typeface="Aptos"/>
                        </a:rPr>
                        <a:t>EZU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19" b="0">
                          <a:solidFill>
                            <a:srgbClr val="5E6E83"/>
                          </a:solidFill>
                          <a:latin typeface="Aptos"/>
                        </a:rPr>
                        <a:t>0.059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19" b="0">
                          <a:solidFill>
                            <a:srgbClr val="5E6E83"/>
                          </a:solidFill>
                          <a:latin typeface="Aptos"/>
                        </a:rPr>
                        <a:t>−0.021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329">
                <a:tc>
                  <a:txBody>
                    <a:bodyPr/>
                    <a:lstStyle/>
                    <a:p>
                      <a:pPr algn="ctr"/>
                      <a:r>
                        <a:rPr sz="819" b="1">
                          <a:solidFill>
                            <a:srgbClr val="0B1526"/>
                          </a:solidFill>
                          <a:latin typeface="Aptos"/>
                        </a:rPr>
                        <a:t>EWJ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19" b="0">
                          <a:solidFill>
                            <a:srgbClr val="5E6E83"/>
                          </a:solidFill>
                          <a:latin typeface="Aptos"/>
                        </a:rPr>
                        <a:t>0.051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19" b="0" dirty="0">
                          <a:solidFill>
                            <a:srgbClr val="5E6E83"/>
                          </a:solidFill>
                          <a:latin typeface="Aptos"/>
                        </a:rPr>
                        <a:t>−0.014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1" name="TextBox 40"/>
          <p:cNvSpPr txBox="1"/>
          <p:nvPr/>
        </p:nvSpPr>
        <p:spPr>
          <a:xfrm>
            <a:off x="7585279" y="4251972"/>
            <a:ext cx="343346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897E"/>
                </a:solidFill>
                <a:latin typeface="Aptos"/>
              </a:defRPr>
            </a:pPr>
            <a:r>
              <a:rPr dirty="0"/>
              <a:t>Test R² is near zero or negative → do not trust forecast levels.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6565392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5E6E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MMF1927H · Final Group Project · 31 July 2026</a:t>
            </a:r>
            <a:endParaRPr lang="en-US" sz="780" dirty="0"/>
          </a:p>
        </p:txBody>
      </p:sp>
      <p:sp>
        <p:nvSpPr>
          <p:cNvPr id="3" name="Text 1"/>
          <p:cNvSpPr/>
          <p:nvPr/>
        </p:nvSpPr>
        <p:spPr>
          <a:xfrm>
            <a:off x="11109960" y="6565392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780" dirty="0">
                <a:solidFill>
                  <a:srgbClr val="5E6E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 / 17</a:t>
            </a:r>
            <a:endParaRPr lang="en-US" sz="780" dirty="0"/>
          </a:p>
        </p:txBody>
      </p:sp>
      <p:sp>
        <p:nvSpPr>
          <p:cNvPr id="4" name="Shape 2"/>
          <p:cNvSpPr/>
          <p:nvPr/>
        </p:nvSpPr>
        <p:spPr>
          <a:xfrm>
            <a:off x="502920" y="347472"/>
            <a:ext cx="932688" cy="64008"/>
          </a:xfrm>
          <a:prstGeom prst="rect">
            <a:avLst/>
          </a:prstGeom>
          <a:solidFill>
            <a:srgbClr val="D5A11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566928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20" b="1" dirty="0">
                <a:solidFill>
                  <a:srgbClr val="D5A1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RESULTS</a:t>
            </a:r>
            <a:endParaRPr lang="en-US" sz="920" dirty="0"/>
          </a:p>
        </p:txBody>
      </p:sp>
      <p:sp>
        <p:nvSpPr>
          <p:cNvPr id="6" name="Text 4"/>
          <p:cNvSpPr/>
          <p:nvPr/>
        </p:nvSpPr>
        <p:spPr>
          <a:xfrm>
            <a:off x="530352" y="859536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950" b="1" dirty="0">
                <a:solidFill>
                  <a:srgbClr val="0B15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Backtest Performance, Net of Costs</a:t>
            </a:r>
            <a:endParaRPr lang="en-US" sz="2950" dirty="0"/>
          </a:p>
        </p:txBody>
      </p:sp>
      <p:sp>
        <p:nvSpPr>
          <p:cNvPr id="7" name="Text 5"/>
          <p:cNvSpPr/>
          <p:nvPr/>
        </p:nvSpPr>
        <p:spPr>
          <a:xfrm>
            <a:off x="548640" y="1472184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5E6E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2014-09-26 to 2026-06-08; same execution and cost assumptions across strategies.</a:t>
            </a:r>
            <a:endParaRPr lang="en-US" sz="1300" dirty="0"/>
          </a:p>
        </p:txBody>
      </p:sp>
      <p:graphicFrame>
        <p:nvGraphicFramePr>
          <p:cNvPr id="8" name="Chart 0"/>
          <p:cNvGraphicFramePr/>
          <p:nvPr/>
        </p:nvGraphicFramePr>
        <p:xfrm>
          <a:off x="777240" y="1828800"/>
          <a:ext cx="6720840" cy="3429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Shape 6"/>
          <p:cNvSpPr/>
          <p:nvPr/>
        </p:nvSpPr>
        <p:spPr>
          <a:xfrm>
            <a:off x="7909560" y="1901952"/>
            <a:ext cx="3154680" cy="1051560"/>
          </a:xfrm>
          <a:prstGeom prst="roundRect">
            <a:avLst>
              <a:gd name="adj" fmla="val 6957"/>
            </a:avLst>
          </a:prstGeom>
          <a:solidFill>
            <a:srgbClr val="DFF4F0"/>
          </a:solidFill>
          <a:ln w="12700">
            <a:solidFill>
              <a:srgbClr val="14877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183880" y="2139696"/>
            <a:ext cx="960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dirty="0">
                <a:solidFill>
                  <a:srgbClr val="1487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0.689</a:t>
            </a:r>
            <a:endParaRPr lang="en-US" sz="2500" dirty="0"/>
          </a:p>
        </p:txBody>
      </p:sp>
      <p:sp>
        <p:nvSpPr>
          <p:cNvPr id="11" name="Text 8"/>
          <p:cNvSpPr/>
          <p:nvPr/>
        </p:nvSpPr>
        <p:spPr>
          <a:xfrm>
            <a:off x="8183880" y="2596896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5E6E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strategy Sharpe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9464040" y="2139696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dirty="0">
                <a:solidFill>
                  <a:srgbClr val="1487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7.75%</a:t>
            </a:r>
            <a:endParaRPr lang="en-US" sz="2500" dirty="0"/>
          </a:p>
        </p:txBody>
      </p:sp>
      <p:sp>
        <p:nvSpPr>
          <p:cNvPr id="13" name="Text 10"/>
          <p:cNvSpPr/>
          <p:nvPr/>
        </p:nvSpPr>
        <p:spPr>
          <a:xfrm>
            <a:off x="9464040" y="2596896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5E6E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strategy CAGR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7909560" y="3273552"/>
            <a:ext cx="3154680" cy="1051560"/>
          </a:xfrm>
          <a:prstGeom prst="roundRect">
            <a:avLst>
              <a:gd name="adj" fmla="val 6957"/>
            </a:avLst>
          </a:prstGeom>
          <a:solidFill>
            <a:srgbClr val="F9DDDD"/>
          </a:solidFill>
          <a:ln w="12700">
            <a:solidFill>
              <a:srgbClr val="BF4545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183880" y="3511296"/>
            <a:ext cx="960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dirty="0">
                <a:solidFill>
                  <a:srgbClr val="BF45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0.985</a:t>
            </a:r>
            <a:endParaRPr lang="en-US" sz="2500" dirty="0"/>
          </a:p>
        </p:txBody>
      </p:sp>
      <p:sp>
        <p:nvSpPr>
          <p:cNvPr id="16" name="Text 13"/>
          <p:cNvSpPr/>
          <p:nvPr/>
        </p:nvSpPr>
        <p:spPr>
          <a:xfrm>
            <a:off x="8183880" y="3968496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5E6E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SPY Sharpe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9464039" y="3511296"/>
            <a:ext cx="11376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dirty="0">
                <a:solidFill>
                  <a:srgbClr val="BF45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13.94%</a:t>
            </a:r>
            <a:endParaRPr lang="en-US" sz="2500" dirty="0"/>
          </a:p>
        </p:txBody>
      </p:sp>
      <p:sp>
        <p:nvSpPr>
          <p:cNvPr id="18" name="Text 15"/>
          <p:cNvSpPr/>
          <p:nvPr/>
        </p:nvSpPr>
        <p:spPr>
          <a:xfrm>
            <a:off x="9464040" y="3968496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5E6E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SPY CAGR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7909560" y="4645152"/>
            <a:ext cx="315468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5DCE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247888" y="4892040"/>
            <a:ext cx="2514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220" b="1" dirty="0">
                <a:solidFill>
                  <a:srgbClr val="0B15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Positive compounding, but not a benchmark win.</a:t>
            </a:r>
            <a:endParaRPr lang="en-US" sz="1220" dirty="0"/>
          </a:p>
        </p:txBody>
      </p:sp>
      <p:sp>
        <p:nvSpPr>
          <p:cNvPr id="21" name="Shape 18"/>
          <p:cNvSpPr/>
          <p:nvPr/>
        </p:nvSpPr>
        <p:spPr>
          <a:xfrm>
            <a:off x="685800" y="5779008"/>
            <a:ext cx="10835640" cy="475488"/>
          </a:xfrm>
          <a:prstGeom prst="roundRect">
            <a:avLst>
              <a:gd name="adj" fmla="val 11538"/>
            </a:avLst>
          </a:prstGeom>
          <a:solidFill>
            <a:srgbClr val="07152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96112" y="5934456"/>
            <a:ext cx="10378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06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TAKEAWAY  The benchmark comparison is strict: SPY-only remains the clean winner.</a:t>
            </a:r>
            <a:endParaRPr lang="en-US" sz="106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6565392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5E6E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MMF1927H · Final Group Project · 31 July 2026</a:t>
            </a:r>
            <a:endParaRPr lang="en-US" sz="780" dirty="0"/>
          </a:p>
        </p:txBody>
      </p:sp>
      <p:sp>
        <p:nvSpPr>
          <p:cNvPr id="3" name="Text 1"/>
          <p:cNvSpPr/>
          <p:nvPr/>
        </p:nvSpPr>
        <p:spPr>
          <a:xfrm>
            <a:off x="11109960" y="6565392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780" dirty="0">
                <a:solidFill>
                  <a:srgbClr val="5E6E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 / 17</a:t>
            </a:r>
            <a:endParaRPr lang="en-US" sz="780" dirty="0"/>
          </a:p>
        </p:txBody>
      </p:sp>
      <p:sp>
        <p:nvSpPr>
          <p:cNvPr id="4" name="Shape 2"/>
          <p:cNvSpPr/>
          <p:nvPr/>
        </p:nvSpPr>
        <p:spPr>
          <a:xfrm>
            <a:off x="502920" y="347472"/>
            <a:ext cx="932688" cy="64008"/>
          </a:xfrm>
          <a:prstGeom prst="rect">
            <a:avLst/>
          </a:prstGeom>
          <a:solidFill>
            <a:srgbClr val="D5A11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566928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20" b="1" dirty="0">
                <a:solidFill>
                  <a:srgbClr val="D5A1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RESULTS</a:t>
            </a:r>
            <a:endParaRPr lang="en-US" sz="920" dirty="0"/>
          </a:p>
        </p:txBody>
      </p:sp>
      <p:sp>
        <p:nvSpPr>
          <p:cNvPr id="6" name="Text 4"/>
          <p:cNvSpPr/>
          <p:nvPr/>
        </p:nvSpPr>
        <p:spPr>
          <a:xfrm>
            <a:off x="530352" y="859536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950" b="1" dirty="0">
                <a:solidFill>
                  <a:srgbClr val="0B15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Risk Targeting Lowered Volatility, Not Enough Return</a:t>
            </a:r>
            <a:endParaRPr lang="en-US" sz="2950" dirty="0"/>
          </a:p>
        </p:txBody>
      </p:sp>
      <p:sp>
        <p:nvSpPr>
          <p:cNvPr id="7" name="Text 5"/>
          <p:cNvSpPr/>
          <p:nvPr/>
        </p:nvSpPr>
        <p:spPr>
          <a:xfrm>
            <a:off x="548640" y="1472184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5E6E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Compare the same top-two selection before and after the 12% volatility target.</a:t>
            </a:r>
            <a:endParaRPr lang="en-US" sz="1300" dirty="0"/>
          </a:p>
        </p:txBody>
      </p:sp>
      <p:graphicFrame>
        <p:nvGraphicFramePr>
          <p:cNvPr id="8" name="Chart 0"/>
          <p:cNvGraphicFramePr/>
          <p:nvPr/>
        </p:nvGraphicFramePr>
        <p:xfrm>
          <a:off x="777240" y="1828800"/>
          <a:ext cx="672084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6"/>
          <p:cNvSpPr/>
          <p:nvPr/>
        </p:nvSpPr>
        <p:spPr>
          <a:xfrm>
            <a:off x="8092440" y="20574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dirty="0">
                <a:solidFill>
                  <a:srgbClr val="1487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−2.95</a:t>
            </a:r>
            <a:endParaRPr lang="en-US" sz="2700" dirty="0"/>
          </a:p>
        </p:txBody>
      </p:sp>
      <p:sp>
        <p:nvSpPr>
          <p:cNvPr id="10" name="Text 7"/>
          <p:cNvSpPr/>
          <p:nvPr/>
        </p:nvSpPr>
        <p:spPr>
          <a:xfrm>
            <a:off x="8092440" y="251460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5E6E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points of annualized volatility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092440" y="327355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dirty="0">
                <a:solidFill>
                  <a:srgbClr val="D5A1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−0.29</a:t>
            </a:r>
            <a:endParaRPr lang="en-US" sz="2700" dirty="0"/>
          </a:p>
        </p:txBody>
      </p:sp>
      <p:sp>
        <p:nvSpPr>
          <p:cNvPr id="12" name="Text 9"/>
          <p:cNvSpPr/>
          <p:nvPr/>
        </p:nvSpPr>
        <p:spPr>
          <a:xfrm>
            <a:off x="8092440" y="373075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5E6E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points of drawdown improvement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7818120" y="4434840"/>
            <a:ext cx="3456432" cy="822960"/>
          </a:xfrm>
          <a:prstGeom prst="roundRect">
            <a:avLst>
              <a:gd name="adj" fmla="val 8889"/>
            </a:avLst>
          </a:prstGeom>
          <a:solidFill>
            <a:srgbClr val="F9DDDD"/>
          </a:solidFill>
          <a:ln w="12700">
            <a:solidFill>
              <a:srgbClr val="BF4545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165592" y="4727448"/>
            <a:ext cx="2788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220" b="1" dirty="0">
                <a:solidFill>
                  <a:srgbClr val="BF45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Sharpe declined from 0.819 to 0.689 after scaling.</a:t>
            </a:r>
            <a:endParaRPr lang="en-US" sz="1220" dirty="0"/>
          </a:p>
        </p:txBody>
      </p:sp>
      <p:sp>
        <p:nvSpPr>
          <p:cNvPr id="15" name="Shape 12"/>
          <p:cNvSpPr/>
          <p:nvPr/>
        </p:nvSpPr>
        <p:spPr>
          <a:xfrm>
            <a:off x="685800" y="5806440"/>
            <a:ext cx="10835640" cy="475488"/>
          </a:xfrm>
          <a:prstGeom prst="roundRect">
            <a:avLst>
              <a:gd name="adj" fmla="val 11538"/>
            </a:avLst>
          </a:prstGeom>
          <a:solidFill>
            <a:srgbClr val="07152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96112" y="5961888"/>
            <a:ext cx="10378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06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TAKEAWAY  Risk targeting controlled exposure, but did not improve the final return-risk trade-off.</a:t>
            </a:r>
            <a:endParaRPr lang="en-US" sz="106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6565392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5E6E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MMF1927H · Final Group Project · 31 July 2026</a:t>
            </a:r>
            <a:endParaRPr lang="en-US" sz="780" dirty="0"/>
          </a:p>
        </p:txBody>
      </p:sp>
      <p:sp>
        <p:nvSpPr>
          <p:cNvPr id="3" name="Text 1"/>
          <p:cNvSpPr/>
          <p:nvPr/>
        </p:nvSpPr>
        <p:spPr>
          <a:xfrm>
            <a:off x="11109960" y="6565392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780" dirty="0">
                <a:solidFill>
                  <a:srgbClr val="5E6E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 / 17</a:t>
            </a:r>
            <a:endParaRPr lang="en-US" sz="780" dirty="0"/>
          </a:p>
        </p:txBody>
      </p:sp>
      <p:sp>
        <p:nvSpPr>
          <p:cNvPr id="4" name="Shape 2"/>
          <p:cNvSpPr/>
          <p:nvPr/>
        </p:nvSpPr>
        <p:spPr>
          <a:xfrm>
            <a:off x="502920" y="347472"/>
            <a:ext cx="932688" cy="64008"/>
          </a:xfrm>
          <a:prstGeom prst="rect">
            <a:avLst/>
          </a:prstGeom>
          <a:solidFill>
            <a:srgbClr val="D5A11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566928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20" b="1" dirty="0">
                <a:solidFill>
                  <a:srgbClr val="D5A1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ROBUSTNESS</a:t>
            </a:r>
            <a:endParaRPr lang="en-US" sz="920" dirty="0"/>
          </a:p>
        </p:txBody>
      </p:sp>
      <p:sp>
        <p:nvSpPr>
          <p:cNvPr id="6" name="Text 4"/>
          <p:cNvSpPr/>
          <p:nvPr/>
        </p:nvSpPr>
        <p:spPr>
          <a:xfrm>
            <a:off x="530352" y="859536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950" b="1" dirty="0">
                <a:solidFill>
                  <a:srgbClr val="0B15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Does the Result Depend on One Rebalance Phase?</a:t>
            </a:r>
            <a:endParaRPr lang="en-US" sz="2950" dirty="0"/>
          </a:p>
        </p:txBody>
      </p:sp>
      <p:sp>
        <p:nvSpPr>
          <p:cNvPr id="7" name="Text 5"/>
          <p:cNvSpPr/>
          <p:nvPr/>
        </p:nvSpPr>
        <p:spPr>
          <a:xfrm>
            <a:off x="548640" y="1472184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5E6E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fixed risk-managed strategy was re-run from all 20 possible starting offsets.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68680" y="1874520"/>
            <a:ext cx="5120640" cy="256032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5DCE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0" y="2212848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B15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Risk-managed top-two across 20 offsets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207008" y="2944368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dirty="0">
                <a:solidFill>
                  <a:srgbClr val="1487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7.07%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1207008" y="3401568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5E6E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minimum CAGR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852928" y="2944368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dirty="0">
                <a:solidFill>
                  <a:srgbClr val="1487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8.08%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2852928" y="3401568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5E6E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median CAGR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498848" y="2944368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dirty="0">
                <a:solidFill>
                  <a:srgbClr val="1487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8.66%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4498848" y="3401568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5E6E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maximum CAGR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234440" y="3968496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160" dirty="0">
                <a:solidFill>
                  <a:srgbClr val="5E6E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Sharpe range: 0.596 to 0.805. Drawdown range: −28.2% to −17.7%.</a:t>
            </a:r>
            <a:endParaRPr lang="en-US" sz="1160" dirty="0"/>
          </a:p>
        </p:txBody>
      </p:sp>
      <p:sp>
        <p:nvSpPr>
          <p:cNvPr id="17" name="Shape 15"/>
          <p:cNvSpPr/>
          <p:nvPr/>
        </p:nvSpPr>
        <p:spPr>
          <a:xfrm>
            <a:off x="6446520" y="1874520"/>
            <a:ext cx="4480560" cy="2560320"/>
          </a:xfrm>
          <a:prstGeom prst="roundRect">
            <a:avLst>
              <a:gd name="adj" fmla="val 2857"/>
            </a:avLst>
          </a:prstGeom>
          <a:solidFill>
            <a:srgbClr val="FFF0C2"/>
          </a:solidFill>
          <a:ln w="12700">
            <a:solidFill>
              <a:srgbClr val="D5A11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66560" y="221284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B15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this answers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995160" y="2816352"/>
            <a:ext cx="3474720" cy="8686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260" dirty="0">
                <a:solidFill>
                  <a:srgbClr val="0B15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Not just one lucky rebalance date.</a:t>
            </a:r>
            <a:endParaRPr lang="en-US" sz="1260" dirty="0"/>
          </a:p>
          <a:p>
            <a:pPr marL="0" indent="0" algn="l">
              <a:buNone/>
            </a:pPr>
            <a:r>
              <a:rPr lang="en-US" sz="1260" dirty="0">
                <a:solidFill>
                  <a:srgbClr val="0B15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Still not an untouched future sample.</a:t>
            </a:r>
            <a:endParaRPr lang="en-US" sz="1260" dirty="0"/>
          </a:p>
          <a:p>
            <a:pPr marL="0" indent="0" algn="l">
              <a:buNone/>
            </a:pPr>
            <a:r>
              <a:rPr lang="en-US" sz="1260" dirty="0">
                <a:solidFill>
                  <a:srgbClr val="0B15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Useful robustness, not a final proof.</a:t>
            </a:r>
            <a:endParaRPr lang="en-US" sz="1260" dirty="0"/>
          </a:p>
        </p:txBody>
      </p:sp>
      <p:sp>
        <p:nvSpPr>
          <p:cNvPr id="20" name="Shape 18"/>
          <p:cNvSpPr/>
          <p:nvPr/>
        </p:nvSpPr>
        <p:spPr>
          <a:xfrm>
            <a:off x="685800" y="5596128"/>
            <a:ext cx="10835640" cy="475488"/>
          </a:xfrm>
          <a:prstGeom prst="roundRect">
            <a:avLst>
              <a:gd name="adj" fmla="val 11538"/>
            </a:avLst>
          </a:prstGeom>
          <a:solidFill>
            <a:srgbClr val="07152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96112" y="5751576"/>
            <a:ext cx="10378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06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TAKEAWAY  Phase robustness is helpful; a future out-of-sample period is still the real test.</a:t>
            </a:r>
            <a:endParaRPr lang="en-US" sz="106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6565392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5E6E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MMF1927H · Final Group Project · 31 July 2026</a:t>
            </a:r>
            <a:endParaRPr lang="en-US" sz="780" dirty="0"/>
          </a:p>
        </p:txBody>
      </p:sp>
      <p:sp>
        <p:nvSpPr>
          <p:cNvPr id="3" name="Text 1"/>
          <p:cNvSpPr/>
          <p:nvPr/>
        </p:nvSpPr>
        <p:spPr>
          <a:xfrm>
            <a:off x="11109960" y="6565392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780" dirty="0">
                <a:solidFill>
                  <a:srgbClr val="5E6E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 / 17</a:t>
            </a:r>
            <a:endParaRPr lang="en-US" sz="780" dirty="0"/>
          </a:p>
        </p:txBody>
      </p:sp>
      <p:sp>
        <p:nvSpPr>
          <p:cNvPr id="4" name="Shape 2"/>
          <p:cNvSpPr/>
          <p:nvPr/>
        </p:nvSpPr>
        <p:spPr>
          <a:xfrm>
            <a:off x="502920" y="347472"/>
            <a:ext cx="932688" cy="64008"/>
          </a:xfrm>
          <a:prstGeom prst="rect">
            <a:avLst/>
          </a:prstGeom>
          <a:solidFill>
            <a:srgbClr val="D5A11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566928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20" b="1" dirty="0">
                <a:solidFill>
                  <a:srgbClr val="D5A1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REALITY CHECK</a:t>
            </a:r>
            <a:endParaRPr lang="en-US" sz="920" dirty="0"/>
          </a:p>
        </p:txBody>
      </p:sp>
      <p:sp>
        <p:nvSpPr>
          <p:cNvPr id="6" name="Text 4"/>
          <p:cNvSpPr/>
          <p:nvPr/>
        </p:nvSpPr>
        <p:spPr>
          <a:xfrm>
            <a:off x="530352" y="859536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950" b="1" dirty="0">
                <a:solidFill>
                  <a:srgbClr val="0B15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Opportunity Is Real — We Captured Little of It</a:t>
            </a:r>
            <a:endParaRPr lang="en-US" sz="2950" dirty="0"/>
          </a:p>
        </p:txBody>
      </p:sp>
      <p:sp>
        <p:nvSpPr>
          <p:cNvPr id="7" name="Text 5"/>
          <p:cNvSpPr/>
          <p:nvPr/>
        </p:nvSpPr>
        <p:spPr>
          <a:xfrm>
            <a:off x="548640" y="1472184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5E6E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perfect-foresight oracle gives the upper bound for regional rotation under the same dates and costs.</a:t>
            </a:r>
            <a:endParaRPr lang="en-US" sz="1300" dirty="0"/>
          </a:p>
        </p:txBody>
      </p:sp>
      <p:graphicFrame>
        <p:nvGraphicFramePr>
          <p:cNvPr id="8" name="Chart 0"/>
          <p:cNvGraphicFramePr/>
          <p:nvPr/>
        </p:nvGraphicFramePr>
        <p:xfrm>
          <a:off x="777240" y="1828800"/>
          <a:ext cx="6583680" cy="3337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Shape 6"/>
          <p:cNvSpPr/>
          <p:nvPr/>
        </p:nvSpPr>
        <p:spPr>
          <a:xfrm>
            <a:off x="7772400" y="1901952"/>
            <a:ext cx="3291840" cy="1024128"/>
          </a:xfrm>
          <a:prstGeom prst="roundRect">
            <a:avLst>
              <a:gd name="adj" fmla="val 7143"/>
            </a:avLst>
          </a:prstGeom>
          <a:solidFill>
            <a:srgbClr val="FFF0C2"/>
          </a:solidFill>
          <a:ln w="12700">
            <a:solidFill>
              <a:srgbClr val="D5A11E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065008" y="2139696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dirty="0">
                <a:solidFill>
                  <a:srgbClr val="D5A1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2.268</a:t>
            </a:r>
            <a:endParaRPr lang="en-US" sz="2500" dirty="0"/>
          </a:p>
        </p:txBody>
      </p:sp>
      <p:sp>
        <p:nvSpPr>
          <p:cNvPr id="11" name="Text 8"/>
          <p:cNvSpPr/>
          <p:nvPr/>
        </p:nvSpPr>
        <p:spPr>
          <a:xfrm>
            <a:off x="8065008" y="259689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5E6E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oracle Sharpe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9372600" y="2139696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dirty="0">
                <a:solidFill>
                  <a:srgbClr val="D5A11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37.72%</a:t>
            </a:r>
            <a:endParaRPr lang="en-US" sz="2500" dirty="0"/>
          </a:p>
        </p:txBody>
      </p:sp>
      <p:sp>
        <p:nvSpPr>
          <p:cNvPr id="13" name="Text 10"/>
          <p:cNvSpPr/>
          <p:nvPr/>
        </p:nvSpPr>
        <p:spPr>
          <a:xfrm>
            <a:off x="9372600" y="259689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5E6E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oracle CAGR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7772400" y="3246120"/>
            <a:ext cx="3291840" cy="1024128"/>
          </a:xfrm>
          <a:prstGeom prst="roundRect">
            <a:avLst>
              <a:gd name="adj" fmla="val 7143"/>
            </a:avLst>
          </a:prstGeom>
          <a:solidFill>
            <a:srgbClr val="DFF4F0"/>
          </a:solidFill>
          <a:ln w="12700">
            <a:solidFill>
              <a:srgbClr val="14877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065008" y="3483864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dirty="0">
                <a:solidFill>
                  <a:srgbClr val="1487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39.9%</a:t>
            </a:r>
            <a:endParaRPr lang="en-US" sz="2500" dirty="0"/>
          </a:p>
        </p:txBody>
      </p:sp>
      <p:sp>
        <p:nvSpPr>
          <p:cNvPr id="16" name="Text 13"/>
          <p:cNvSpPr/>
          <p:nvPr/>
        </p:nvSpPr>
        <p:spPr>
          <a:xfrm>
            <a:off x="8065008" y="3941064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5E6E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top-one match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9326880" y="3648456"/>
            <a:ext cx="1234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010" dirty="0">
                <a:solidFill>
                  <a:srgbClr val="1487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better than random, but not reliable selection</a:t>
            </a:r>
            <a:endParaRPr lang="en-US" sz="1010" dirty="0"/>
          </a:p>
        </p:txBody>
      </p:sp>
      <p:sp>
        <p:nvSpPr>
          <p:cNvPr id="18" name="Shape 15"/>
          <p:cNvSpPr/>
          <p:nvPr/>
        </p:nvSpPr>
        <p:spPr>
          <a:xfrm>
            <a:off x="7772400" y="4572000"/>
            <a:ext cx="3291840" cy="731520"/>
          </a:xfrm>
          <a:prstGeom prst="roundRect">
            <a:avLst>
              <a:gd name="adj" fmla="val 10000"/>
            </a:avLst>
          </a:prstGeom>
          <a:solidFill>
            <a:srgbClr val="F9DDDD"/>
          </a:solidFill>
          <a:ln w="12700">
            <a:solidFill>
              <a:srgbClr val="BF4545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092440" y="4837176"/>
            <a:ext cx="2651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120" b="1" dirty="0">
                <a:solidFill>
                  <a:srgbClr val="BF45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oracle is not tradable. It is an opportunity bound, not a benchmark.</a:t>
            </a:r>
            <a:endParaRPr lang="en-US" sz="1120" dirty="0"/>
          </a:p>
        </p:txBody>
      </p:sp>
      <p:sp>
        <p:nvSpPr>
          <p:cNvPr id="20" name="Shape 17"/>
          <p:cNvSpPr/>
          <p:nvPr/>
        </p:nvSpPr>
        <p:spPr>
          <a:xfrm>
            <a:off x="685800" y="5779008"/>
            <a:ext cx="10835640" cy="475488"/>
          </a:xfrm>
          <a:prstGeom prst="roundRect">
            <a:avLst>
              <a:gd name="adj" fmla="val 11538"/>
            </a:avLst>
          </a:prstGeom>
          <a:solidFill>
            <a:srgbClr val="07152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96112" y="5934456"/>
            <a:ext cx="10378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06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TAKEAWAY  There were large regional-selection opportunities; this signal captured only a small part.</a:t>
            </a:r>
            <a:endParaRPr lang="en-US" sz="106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</TotalTime>
  <Words>1919</Words>
  <Application>Microsoft Macintosh PowerPoint</Application>
  <PresentationFormat>Widescreen</PresentationFormat>
  <Paragraphs>302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University of Toronto MMF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Currency Skew as a Cross-Asset Equity Signal</dc:title>
  <dc:subject>Currency skew as a cross-asset equity signal</dc:subject>
  <dc:creator>Alex Khadra, Matthew Antoniuk, Gerard Wu</dc:creator>
  <cp:lastModifiedBy>Gerard Wu</cp:lastModifiedBy>
  <cp:revision>6</cp:revision>
  <dcterms:created xsi:type="dcterms:W3CDTF">2026-07-31T16:36:20Z</dcterms:created>
  <dcterms:modified xsi:type="dcterms:W3CDTF">2026-07-31T22:42:11Z</dcterms:modified>
</cp:coreProperties>
</file>